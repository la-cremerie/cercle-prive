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Coût de production hors foncier</c:v>
                </c:pt>
              </c:strCache>
            </c:strRef>
          </c:tx>
          <c:spPr>
            <a:solidFill>
              <a:srgbClr val="BE7B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20 000 €/m²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11289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Foncier implicite</c:v>
                </c:pt>
              </c:strCache>
            </c:strRef>
          </c:tx>
          <c:spPr>
            <a:solidFill>
              <a:srgbClr val="2064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20 000 €/m²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5711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Marge et frais financiers</c:v>
                </c:pt>
              </c:strCache>
            </c:strRef>
          </c:tx>
          <c:spPr>
            <a:solidFill>
              <a:srgbClr val="B030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20 000 €/m²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3000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0"/>
        </c:scaling>
        <c:delete val="0"/>
        <c:axPos val="b"/>
        <c:majorGridlines>
          <c:spPr>
            <a:ln w="6350" cap="flat">
              <a:solidFill>
                <a:srgbClr val="EDE8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3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6B63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€/m²</c:v>
                </c:pt>
              </c:strCache>
            </c:strRef>
          </c:tx>
          <c:spPr>
            <a:solidFill>
              <a:srgbClr val="BE7B12"/>
            </a:solidFill>
            <a:effectLst/>
          </c:spPr>
          <c:invertIfNegative val="0"/>
          <c:dLbls>
            <c:numFmt formatCode="#,##0 &quot;€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3D362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E7B1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E7B1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E7B1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E7B1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064C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064C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064C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064C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064C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B0302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E1A14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Contemporaine vue mer, 295 m²</c:v>
                  </c:pt>
                  <c:pt idx="1">
                    <c:v>Villa neuve centre, 320 m²</c:v>
                  </c:pt>
                  <c:pt idx="2">
                    <c:v>Contemporaine neuve, 264 m²</c:v>
                  </c:pt>
                  <c:pt idx="3">
                    <c:v>Surplombant la mer, 358 m²</c:v>
                  </c:pt>
                  <c:pt idx="4">
                    <c:v>Méditerranéenne, 365 m²</c:v>
                  </c:pt>
                  <c:pt idx="5">
                    <c:v>Vue mer except., 347 m²</c:v>
                  </c:pt>
                  <c:pt idx="6">
                    <c:v>Bord de mer, 340 m²</c:v>
                  </c:pt>
                  <c:pt idx="7">
                    <c:v>Provençale, 350 m²</c:v>
                  </c:pt>
                  <c:pt idx="8">
                    <c:v>Vue mer, 350 m²</c:v>
                  </c:pt>
                  <c:pt idx="9">
                    <c:v>Standard vue mer, 400 m²</c:v>
                  </c:pt>
                  <c:pt idx="10">
                    <c:v>VILLA ROI DE LA CAMARGUE, 422 m²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23390</c:v>
                </c:pt>
                <c:pt idx="1">
                  <c:v>19688</c:v>
                </c:pt>
                <c:pt idx="2">
                  <c:v>18182</c:v>
                </c:pt>
                <c:pt idx="3">
                  <c:v>18156</c:v>
                </c:pt>
                <c:pt idx="4">
                  <c:v>17808</c:v>
                </c:pt>
                <c:pt idx="5">
                  <c:v>16398</c:v>
                </c:pt>
                <c:pt idx="6">
                  <c:v>16176</c:v>
                </c:pt>
                <c:pt idx="7">
                  <c:v>15714</c:v>
                </c:pt>
                <c:pt idx="8">
                  <c:v>14857</c:v>
                </c:pt>
                <c:pt idx="9">
                  <c:v>10625</c:v>
                </c:pt>
                <c:pt idx="10">
                  <c:v>20000</c:v>
                </c:pt>
              </c:numCache>
            </c:numRef>
          </c:val>
        </c:ser>
        <c:dLbls>
          <c:numFmt formatCode="#,##0 &quot;€&quot;" sourceLinked="0"/>
          <c:txPr>
            <a:bodyPr/>
            <a:lstStyle/>
            <a:p>
              <a:pPr>
                <a:defRPr b="0" i="0" strike="noStrike" sz="850" u="none">
                  <a:solidFill>
                    <a:srgbClr val="3D362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3D362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Prix moyen au m²</c:v>
                </c:pt>
              </c:strCache>
            </c:strRef>
          </c:tx>
          <c:spPr>
            <a:solidFill>
              <a:srgbClr val="BE7B12"/>
            </a:solidFill>
            <a:effectLst/>
          </c:spPr>
          <c:invertIfNegative val="0"/>
          <c:dLbls>
            <c:numFmt formatCode="#,##0 &quot;€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D362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E7B1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064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0302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Neuf et contemporain</c:v>
                  </c:pt>
                  <c:pt idx="1">
                    <c:v>Ancien et rénové</c:v>
                  </c:pt>
                  <c:pt idx="2">
                    <c:v>Standard vue mer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19854</c:v>
                </c:pt>
                <c:pt idx="1">
                  <c:v>16191</c:v>
                </c:pt>
                <c:pt idx="2">
                  <c:v>10625</c:v>
                </c:pt>
              </c:numCache>
            </c:numRef>
          </c:val>
        </c:ser>
        <c:dLbls>
          <c:numFmt formatCode="#,##0 &quot;€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D362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362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Villa neuve grand luxe, 421,82 m² intérieurs sur une parcelle de 2 033 m² à La Nartelle. Position perchée vue mer (+37,92 à +44,77 NGF) — ce n'est pas un pieds dans l'eau, et il ne faut jamais le laisser croire.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ratio d'emprise : 19,6 % seulement, donc 1 635 m² d'extérieurs. Rare sur un secteur où la contrainte foncière pousse à la densification.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retournement à tenir en rendez-vous. Ne jamais dire « chambres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L'acquéreur international dispose d'un actif exploitable dès la remise des clés, y compris en location saisonnière dès la première saison.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Transition. Le contradicteur ouvrira toujours sur la moyenne communale.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de vigilance à dire au vendeur : le vivier est étroit. Un mandat de trois mois n'a aucun sens sur cette tranche.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descendre sous le plancher sans contrepartie — délai raccourci, mobilier conservé, conditions suspensives allégées.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CRÉMERIE · CERCLE PRIVÉ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7043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Villa Roi de la Camargue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482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 avenue du Roi de la Camargue — La Nartelle, 83120 Sainte-Maxime · Parcelle AF 168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957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défense de prix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3977640" cy="1207008"/>
          </a:xfrm>
          <a:prstGeom prst="rect">
            <a:avLst/>
          </a:prstGeom>
          <a:solidFill>
            <a:srgbClr val="2A241A"/>
          </a:solidFill>
          <a:ln w="12700">
            <a:solidFill>
              <a:srgbClr val="2A24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2004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DE PRÉSENTATION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5643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8 450 000 €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709160" y="3063240"/>
            <a:ext cx="3977640" cy="1207008"/>
          </a:xfrm>
          <a:prstGeom prst="rect">
            <a:avLst/>
          </a:prstGeom>
          <a:solidFill>
            <a:srgbClr val="2A241A"/>
          </a:solidFill>
          <a:ln w="12700">
            <a:solidFill>
              <a:srgbClr val="2A24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32004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SOIT, SUR 421,82 M² INTÉRIEURS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345643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20 032 €/m²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5765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LE PROGRAMME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bien en un regard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88336" cy="120700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41732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PARCELLE AF 168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71907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2 033 m²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204825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1 635 m² d'extérieurs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19272" y="1298448"/>
            <a:ext cx="2688336" cy="120700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65576" y="141732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INTÉRIEURE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465576" y="171907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421,82 m²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65576" y="204825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garage et local technique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81344" y="1298448"/>
            <a:ext cx="2688336" cy="120700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141732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171907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39,85 m²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204825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36,54 à 41,16 m²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2688336" cy="120700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" y="279806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EMPRISE AU SOL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09981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397,68 m²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342900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19,6 % de la parcelle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19272" y="2679192"/>
            <a:ext cx="2688336" cy="120700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65576" y="279806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TERRASSES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465576" y="309981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151,73 m²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3465576" y="342900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30,69 m² couverts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81344" y="2679192"/>
            <a:ext cx="2688336" cy="120700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279806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DE PLANCHER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327648" y="309981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502,49 m²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327648" y="342900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74,67 m² inclus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1330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neuve, livrée équipée et meublée. Position perchée vue mer, entre +37,92 et +44,77 NGF.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6680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E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relevées sur les plans d'esquisse ESQ.2 / ESQ.3 du 30/05/2025, indice 120 — à faire attester par un géomètre à la livraison.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LE PROGRAMME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niveaux, 421,82 m² intérieurs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39572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1732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R+1  —  187,55 m²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82496"/>
            <a:ext cx="369417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Séjour 54,75 · Suite 1 40,85 · Suite 2 36,54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18,15 · Bureau 13,48 · Entrée 9,79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 6,11 · Vestibule 3,62 · WC 3,16 · SAS 1,10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 sur 96,49 m² de terrasse sud, terrasse couverte de 30,69 m², piscine et cuisine d'été.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239572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28032" y="141732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  —  234,27 m²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28032" y="1682496"/>
            <a:ext cx="369417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3 40,86 · Suite 4 41,16 · Hall 34,88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de musculation 36,52 · Salle de projection 30,22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Lingerie 24,14 · Chambre froide 10,38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Sauna 8,59 · Sanitaires 7,52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d'hôtellerie de luxe intégré à la villa.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221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R-0 conserve la réserve de transformation d'une partie des espaces de loisirs en couchages supplémentaires.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6680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E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variantes du R+1 coexistent au dossier ; la surface totale est stable d'une version à l'autre.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LE PROGRAMME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suites, pas quatre chambres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070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L'objection « quatre chambres seulement, pour 8,4 M€ » compare des unités qui ne le sont pas.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4023360" cy="141732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1783080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ROI DE LA CAMARGUE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2084832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suites de 39,85 m²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2414016"/>
            <a:ext cx="3730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159,41 m² de surface de couchage.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Dressings aménagés sur mesure dans chacune.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664208"/>
            <a:ext cx="4023360" cy="1417320"/>
          </a:xfrm>
          <a:prstGeom prst="rect">
            <a:avLst/>
          </a:prstGeom>
          <a:solidFill>
            <a:srgbClr val="F4F2ED"/>
          </a:solidFill>
          <a:ln w="12700">
            <a:solidFill>
              <a:srgbClr val="F4F2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9744" y="1783080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COMPARABLES DU RELEVÉ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809744" y="2084832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à 6 chambres de 15 à 20 m²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09744" y="2414016"/>
            <a:ext cx="3730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à 120 m² de surface de couchage.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pièces, moins de surface.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273552"/>
            <a:ext cx="8229600" cy="896112"/>
          </a:xfrm>
          <a:prstGeom prst="rect">
            <a:avLst/>
          </a:prstGeom>
          <a:solidFill>
            <a:srgbClr val="1C1811"/>
          </a:solidFill>
          <a:ln w="12700">
            <a:solidFill>
              <a:srgbClr val="1C18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" y="3419856"/>
            <a:ext cx="7790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surface de couchage égale, le programme égale les comparables à six chambres — mais en quatre volumes de standard hôtelier au lieu de six pièces standard. Un acquéreur de ce segment n'achète pas des lits, il achète des suites.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LE PROGRAMME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contiennent les 421 m²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88336" cy="1170432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173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de projection · 30,22 m²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82496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Epson Pro Cinema, Bowers &amp; Wilkins, fauteuils cuir, acoustique Vicoustic et Ecophon.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9272" y="1280160"/>
            <a:ext cx="2688336" cy="1170432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83864" y="14173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de sport · 36,52 m²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83864" y="1682496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Technogym Kinesis, Powertec, ATX Warrior, cardio Precor. Sanitaires dédiés.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280160"/>
            <a:ext cx="2688336" cy="1170432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5936" y="14173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Sauna et jacuzzi · 8,59 m²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45936" y="1682496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 cèdre rouge sur mesure, poêle Harvia. Jacuzzi extérieur Balboa, habillage travertin.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24328"/>
            <a:ext cx="2688336" cy="1170432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76148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 de réception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3026664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Lingerie 24,14 m² Miele Professional, chambre froide professionnelle 10,38 m², cave à vin Liebherr.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19272" y="2624328"/>
            <a:ext cx="2688336" cy="1170432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83864" y="276148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œuvre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83864" y="3026664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Travertin premium grand format, menuiseries Technal, VMC double flux, PAC gainable Daikin.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1344" y="2624328"/>
            <a:ext cx="2688336" cy="1170432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45936" y="276148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Domotique et sûreté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45936" y="3026664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 connecté, vidéosurveillance, visiophone à reconnaissance faciale, éclairage architectural.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96849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livrée meublée et décorée — sélection La Crémerie : Bonaldo, La Chance, De Padova, Red Edition, Luceplan, Talenti.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LA DÉMONSTRATION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91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20 000 €/m², est-ce défendable 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moyenne communale de Sainte-Maxime est de 6 100 €/m². Trois méthodes indépendantes vont montrer que ce n'est pas le bon terme de comparaison.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LA DÉMONSTRATION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ratio dépend de la convention retenue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20 000 €/m² est un chiffre de convention, pas une donnée physique. Le même prix rapporté à une autre base — toutes usuelles en expertise — produit des ratios très différents.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55648"/>
          <a:ext cx="82296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90" kern="0" dirty="0">
                          <a:solidFill>
                            <a:srgbClr val="6B6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CALCUL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90" kern="0" dirty="0">
                          <a:solidFill>
                            <a:srgbClr val="6B6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90" kern="0" dirty="0">
                          <a:solidFill>
                            <a:srgbClr val="6B6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intérieure — base retenue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421,82 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20 000 €/m²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intérieure + terrasses pondérées à 40 %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482,51 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17 484 €/m²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de plancher, garage et local technique inclus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502,49 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16 789 €/m²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bâtie totale + terrasses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654,22 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12 895 €/m²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584448"/>
            <a:ext cx="8229600" cy="841248"/>
          </a:xfrm>
          <a:prstGeom prst="rect">
            <a:avLst/>
          </a:prstGeom>
          <a:solidFill>
            <a:srgbClr val="1C1811"/>
          </a:solidFill>
          <a:ln w="12700">
            <a:solidFill>
              <a:srgbClr val="1C181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6656" y="3712464"/>
            <a:ext cx="7790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retenons volontairement la base la plus défavorable. Sur la surface de plancher, convention usuelle en évaluation de villa neuve, le ratio ressort à 16 789 €/m² — sous la moyenne du segment contemporain de Sainte-Maxime.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LA DÉMONSTRATION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méthodes, une valeur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88336" cy="228600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6C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93852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 reconstitution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286000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1 185 €/m²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743200"/>
            <a:ext cx="23591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n'implique qu'une valeur foncière de 1 185 €/m² de terrain — prudente pour une parcelle vue mer de 2 033 m².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9272" y="1298448"/>
            <a:ext cx="2688336" cy="228600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83864" y="1371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6C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483864" y="193852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Comparables d'offre actuels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483864" y="2286000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19 854 €/m²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483864" y="2743200"/>
            <a:ext cx="23591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du segment neuf et contemporain en vente à Sainte-Maxime. Le prix visé s'en écarte de 0,7 %.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1344" y="1298448"/>
            <a:ext cx="2688336" cy="228600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45936" y="1371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6C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345936" y="193852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du neuf mesurée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45936" y="2286000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+ 22,6 %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345936" y="2743200"/>
            <a:ext cx="23591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constaté entre le segment neuf-contemporain et le segment ancien-rénové sur le même marché.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78561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trois méthodes n'ont aucune donnée en commun : l'une part des coûts, l'autre du marché de l'offre, la troisième d'un différentiel de segment. Leur convergence est l'argument central du dossier.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MÉTHODE 1 — BILAN DE RECONSTITUTION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prix contient réellement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25296"/>
          <a:ext cx="822960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07792"/>
            <a:ext cx="2688336" cy="128016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" y="302666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PRODUCTION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603504" y="332841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11 289 €/m²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36576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56,4 % — construction, équipements, extérieurs, mobilier, honoraires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19272" y="2907792"/>
            <a:ext cx="2688336" cy="128016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65576" y="302666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FONCIER IMPLICITE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3465576" y="332841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5 711 €/m²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465576" y="36576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28,6 % — soit 2 409 126 € pour 2 033 m² de terrain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81344" y="2907792"/>
            <a:ext cx="2688336" cy="128016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27648" y="302666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ET FRAIS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6327648" y="332841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3 000 €/m²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327648" y="36576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15,0 % — marge d'opération 12 % et portage 3 %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6680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E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d'ordre de grandeur, à substituer par les coûts réels de l'opération.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MÉTHODE 1 — BILAN DE RECONSTITUTION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bilan, poste par poste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649224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90" kern="0" dirty="0">
                          <a:solidFill>
                            <a:srgbClr val="6B6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90" kern="0" dirty="0">
                          <a:solidFill>
                            <a:srgbClr val="6B6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 HT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 œuvre et second œuvre — 421,82 m² × 5 200 €/m²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2 193 464 €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Garage et local technique — 80,67 m² × 1 800 €/m²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145 206 €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Équipements d'exception — projection, cuisine, sport, domotique, sauna, chambre froide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550 000 €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Aménagements extérieurs — soutènements, paysagisme, terrasses, piscine, cuisine d'été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680 000 €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Mobilier et décoration — sélection La Crémerie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550 000 €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Honoraires, assurances et taxes — maîtrise d'œuvre 13 %, DO et RCD 2,5 %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643 144 €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de production hors foncier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4 761 814 €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 d'opération (12 %) et frais financiers (3 %)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1 265 460 €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Foncier implicite — résidu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2 409 126 €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6680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E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d'acquisition effectif de la parcelle AF 168 doit remplacer le foncier implicite : c'est la donnée qui verrouille définitivement ce bilan.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83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MÉTHODE 1 — LE RÉSULTAT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1 185 €/m²</a:t>
            </a:r>
            <a:endParaRPr lang="en-US" sz="6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77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FC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valeur foncière qu'implique un prix de 8 436 400 €, pour une parcelle de 2 033 m² avec vue mer à La Nartelle. Ce niveau est cohérent avec le marché du foncier constructible vue mer du Golfe — il en est même plutôt le bas.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364992"/>
            <a:ext cx="8229600" cy="969264"/>
          </a:xfrm>
          <a:prstGeom prst="rect">
            <a:avLst/>
          </a:prstGeom>
          <a:solidFill>
            <a:srgbClr val="2A241A"/>
          </a:solidFill>
          <a:ln w="12700">
            <a:solidFill>
              <a:srgbClr val="2A24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3529584"/>
            <a:ext cx="7754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prix ne se défend pas malgré le coût de production : il est contraint par lui. Descendre sous 8 M€ reviendrait à valoriser le terrain à moins de 900 €/m², ce qu'aucun propriétaire foncier de La Nartelle n'accepterait.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MÉTHODE 2 — COMPARABLES D'OFFRE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annonces en cours à Sainte-Maxime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82296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6680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E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affichés relevés en septembre 2026, non des prix de vente — à re-sourcer et horodater avant remise à un tiers. Bronze : neuf et contemporain · bleu : ancien et rénové · rouge : standard.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MÉTHODE 2 — COMPARABLES D'OFFRE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bien est au centre de son segment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8463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143000"/>
                <a:gridCol w="1234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90" kern="0" dirty="0">
                          <a:solidFill>
                            <a:srgbClr val="6B6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 NEUF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90" kern="0" dirty="0">
                          <a:solidFill>
                            <a:srgbClr val="6B6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€/M²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90" kern="0" dirty="0">
                          <a:solidFill>
                            <a:srgbClr val="6B6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ÉCART DU BIEN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Contemporaine vue mer, 295 m²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23 390 €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− 14,5 %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 neuve centre-ville, 320 m²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19 688 €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+ 1,6 %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Contemporaine neuve, 264 m²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18 182 €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+ 10,0 %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Surplombant la mer, 358 m²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18 156 €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+ 10,2 %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188720"/>
            <a:ext cx="3108960" cy="100584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24144" y="1307592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DU SEGMENT NEUF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5724144" y="160934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19 854 €/m²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724144" y="1938528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visé s'en écarte de 0,7 %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577840" y="2304288"/>
            <a:ext cx="3108960" cy="100584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24144" y="2423160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MÉDIANE DU SEGMENT NEUF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5724144" y="272491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18 935 €/m²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5724144" y="3054096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Borne haute du plancher de négociation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651760"/>
            <a:ext cx="4846320" cy="1536192"/>
          </a:xfrm>
          <a:prstGeom prst="rect">
            <a:avLst/>
          </a:prstGeom>
          <a:solidFill>
            <a:srgbClr val="1C1811"/>
          </a:solidFill>
          <a:ln w="12700">
            <a:solidFill>
              <a:srgbClr val="1C181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" y="2779776"/>
            <a:ext cx="4443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L'effet de taille ne joue pas ici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3090672"/>
            <a:ext cx="4443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FC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quatre comparables neufs, de 264 à 358 m², le €/m² ne suit aucune tendance de surface : R² = 0,04. Le plus cher au m² n'est pas le plus petit, le moins cher n'est pas le plus grand. L'objection « plus grand donc moins cher au m² » n'a aucun appui local.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77840" y="3419856"/>
            <a:ext cx="3108960" cy="768096"/>
          </a:xfrm>
          <a:prstGeom prst="rect">
            <a:avLst/>
          </a:prstGeom>
          <a:solidFill>
            <a:srgbClr val="F6E9E7"/>
          </a:solidFill>
          <a:ln w="12700">
            <a:solidFill>
              <a:srgbClr val="F6E9E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42432" y="3529584"/>
            <a:ext cx="2779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limite honnête : l'extrapolation du prix total des mêmes comparables à 421,82 m² donne 7 764 000 € (R² = 0,40). C'est ce qui fonde le plancher, pas le prix de présentation.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MÉTHODE 3 — PRIME DU NEUF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prime du neuf, mesurée sur ce marché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25296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846320" y="122529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+ 22,6 %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9202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d'écart entre le segment neuf-contemporain et le segment ancien-rénové, à situation et surface comparables. Cette prime n'est pas une opinion : elle se lit dans les prix pratiqués sur la commune.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27432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Garanties décennale, dommages-ouvrage et parfait achèvement · RE2020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Livrée meublée et décorée — actif exploitable dès la remise des clés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suites de standard hôtelier, dressings sur mesure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m² d'espaces de bien-être et de loisirs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34,52 m² de logistique de réception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6680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E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travaux à prévoir avant vingt ans.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LA TRANCHE 7 – 12 M€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8,4 M€, le bien change de marché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88336" cy="1060704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30759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LA CÔTE D'AZUR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60934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40 %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193852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ventes françaises au-delà de 5 M€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19272" y="1188720"/>
            <a:ext cx="2688336" cy="1060704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65576" y="130759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DU MARCHÉ TROPÉZIEN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465576" y="160934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– 30 M€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65576" y="193852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 M€ y est un point d'entrée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81344" y="1188720"/>
            <a:ext cx="2688336" cy="1060704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130759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SUPÉRIEUR À 3 M€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160934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A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+ 54 %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193852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volume au S1 2026, source Barnes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95728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429000"/>
                <a:gridCol w="3429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90" kern="0" dirty="0">
                          <a:solidFill>
                            <a:srgbClr val="6B6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90" kern="0" dirty="0">
                          <a:solidFill>
                            <a:srgbClr val="6B6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ASSUMER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offre directe à ce niveau sur la commune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précédent local à opposer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Acquéreurs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Clientèle internationale et patrimoniale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Quelques dizaines par an sur tout le Golfe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Délai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prix ne cèdent pas sur cette tranche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D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 de 12 à 24 mois, diffusion internationale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57200" y="37856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haut prix affiché du relevé communal est de 6,9 M€ : mise sur le marché à 8,45 M€, la villa serait le bien le plus cher proposé à Sainte-Maxime. Un bien sans comparable local n'est pas surévalué — c'est un bien dont le prix se fixe ailleurs.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6680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E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source publique ne publie le nombre de ventes actées entre 7 et 12 M€. Le script tools/dvf/volumes_tranche_prix.py le produit à partir de DVF — le résultat sera un plancher, les cessions de parts de SCI en étant absentes.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DÉFENSE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sera attaqué, et quoi répondre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93268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2588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Ce n'est pas un pieds dans l'eau. »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591056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— position perchée, +37,92 à +44,77 NGF. Aucune des trois méthodes ne s'appuie sur le front de mer.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249424"/>
            <a:ext cx="4023360" cy="93268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238658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La piscine est petite. »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651760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Fondé. 27 m² pour 421,82 m² habitables. À agrandir ou à documenter avant commercialisation.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310128"/>
            <a:ext cx="4023360" cy="93268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44728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Quatre chambres seulement. »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712464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suites de 39,85 m². À surface de couchage égale, le programme égale les comparables à six chambres.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023360" cy="93268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28032" y="132588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Vos surfaces viennent d'esquisses. »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1591056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Fondé. Figer la variante et faire attester les surfaces avant toute remise à un tiers.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249424"/>
            <a:ext cx="4023360" cy="93268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28032" y="238658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Vos comparables sont des prix affichés. »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28032" y="2651760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pourquoi le bilan de reconstitution porte le dossier : un bilan de coûts ne dépend d'aucune annonce.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310128"/>
            <a:ext cx="4023360" cy="932688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28032" y="344728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20 000 €/m² dépasse la moyenne locale. »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28032" y="3712464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moyenne communale agrège collines et parc ancien. Le repère est le segment neuf, à 19 854 €/m².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5254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de ces six objections sont fondées — les traiter avant de sortir le bien, pas pendant la négociation.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DÉFENSE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traiter avant commercialisation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6C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2801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Trancher la question de la piscine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51790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m² pour une villa de 421,82 m² sur 2 033 m². Seule faiblesse matérielle du dossier — le foncier permet largement d'agrandir. En l'état, un acquéreur avisé en tirera 300 000 à 500 000 € de remise.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048256"/>
            <a:ext cx="8229600" cy="713232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6C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1396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Figer la variante de plan et faire attester les surfaces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377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versions du R+1 circulent, avec des séjours de 41,71 à 59,00 m². Un acquéreur qui les découvre perd confiance dans le reste du dossier.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8229600" cy="713232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6C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29992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Substituer le prix d'acquisition réel du foncier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23697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donnée qui transforme la reconstitution en démonstration opposable.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8229600" cy="713232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6C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38587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comptage DVF de la tranche 7 – 12 M€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09651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caler la durée du mandat sur cette tranche : douze à vingt-quatre mois, diffusion internationale.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1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· RECOMMANDATION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stratégie de prix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91056"/>
            <a:ext cx="8229600" cy="859536"/>
          </a:xfrm>
          <a:prstGeom prst="rect">
            <a:avLst/>
          </a:prstGeom>
          <a:solidFill>
            <a:srgbClr val="3A2E17"/>
          </a:solidFill>
          <a:ln w="12700">
            <a:solidFill>
              <a:srgbClr val="3A2E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7099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DE PRÉSENTATION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195681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8 450 000 €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0116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20 032 €/m²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77393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moyenne du segment neuf ; laisse une marge de négociation crédible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8229600" cy="859536"/>
          </a:xfrm>
          <a:prstGeom prst="rect">
            <a:avLst/>
          </a:prstGeom>
          <a:solidFill>
            <a:srgbClr val="2A241A"/>
          </a:solidFill>
          <a:ln w="12700">
            <a:solidFill>
              <a:srgbClr val="2A24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269748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DE RÉFÉRENCE DU DOSSIER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76656" y="29443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8 436 400 €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9992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20 000 €/m²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76148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convergence des trois méthodes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859536"/>
          </a:xfrm>
          <a:prstGeom prst="rect">
            <a:avLst/>
          </a:prstGeom>
          <a:solidFill>
            <a:srgbClr val="2A241A"/>
          </a:solidFill>
          <a:ln w="12700">
            <a:solidFill>
              <a:srgbClr val="2A24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" y="3685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PLANCHER DE NÉGOCIATION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3931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7 950 000 €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39867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18 847 €/m²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7490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9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la médiane du segment neuf (18 935 €) et l'extrapolation des comparables (18 407 €)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et réserves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2588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de l'opération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591056"/>
            <a:ext cx="36941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descriptive du 12 octobre 2025 · plans ESQ.2 à ESQ.5 du 30 mai 2025, indice 120 · plan cadastral parcelle AF 168 · dossier Fournitures La Crémerie · panorama Twinmotion.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371600"/>
          </a:xfrm>
          <a:prstGeom prst="rect">
            <a:avLst/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28032" y="132588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28032" y="1591056"/>
            <a:ext cx="36941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Provence Immobilier · Belles Demeures · John Taylor · Barnes International · MySweetImmo (février et juillet 2026) · Côte d'Azur Sotheby's, Ultra-Prime Report 2026.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8229600" cy="1481328"/>
          </a:xfrm>
          <a:prstGeom prst="rect">
            <a:avLst/>
          </a:prstGeom>
          <a:solidFill>
            <a:srgbClr val="F6E9E7"/>
          </a:solidFill>
          <a:ln w="12700">
            <a:solidFill>
              <a:srgbClr val="F6E9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" y="285292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76656" y="3145536"/>
            <a:ext cx="7772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comparables sont des prix d'offre relevés en septembre 2026, non des prix de vente.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coûts du bilan de reconstitution sont des ordres de grandeur de marché, à remplacer par les coûts réels de l'opération.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surfaces proviennent de plans d'esquisse non contractuels et devront être attestées à la livraison.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indicateurs de la tranche 7 – 12 M€ cadrent le segment mais ne le dénombrent pas : aucun comptage de transactions n'est avancé sans exécution du script DVF.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Villa Roi de la Camargue — défense de prix</dc:title>
  <dc:subject>PptxGenJS Presentation</dc:subject>
  <dc:creator>La Crémerie / Cercle Privé</dc:creator>
  <cp:lastModifiedBy>La Crémerie / Cercle Privé</cp:lastModifiedBy>
  <cp:revision>1</cp:revision>
  <dcterms:created xsi:type="dcterms:W3CDTF">2026-09-01T09:46:44Z</dcterms:created>
  <dcterms:modified xsi:type="dcterms:W3CDTF">2026-09-01T09:46:44Z</dcterms:modified>
</cp:coreProperties>
</file>