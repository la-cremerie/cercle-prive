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CRÉMERIE · CERCLE PRIVÉ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Roi de la Camargue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avenue du Roi de la Camargue — La Nartelle, 83120 Sainte-Maxime · Parcelle AF 168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59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 de 421,82 m² sur 2 033 m², quatre suites, livrée équipée et meublée.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977640" cy="122529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63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PRÉSENTATION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19856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8 450 000 €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09160" y="3017520"/>
            <a:ext cx="3977640" cy="122529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3163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SOIT, SUR 421,82 M² INTÉRIEURS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19856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20 032 €/m²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948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BIEN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bien en un regard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990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 AF 168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0078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2 033 m²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029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1 635 m² d'extérieurs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280160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3990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INTÉRIEURE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70078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421,82 m²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029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garage et local technique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80160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990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70078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39,85 m²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029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36,54 à 41,16 m²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EMPRISE AU SOL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632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19,6 %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392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397,68 m² sur 2 033 m²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9272" y="2642616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0632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151,73 m²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465576" y="3392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36 % de la surface intérieure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1344" y="2642616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0632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Neuve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392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meublée et décorée, RE2020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19,6 % d'emprise seulement. Un ratio rare sur un secteur où la contrainte foncière pousse partout à la densification.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BIEN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niveaux, 421,82 m² intérieurs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23360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R+1  —  187,55 m²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Séjour 54,75 · Suite 1 40,85 · Suite 2 36,54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18,15 · Bureau 13,48 · Entrée 9,79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6,11 · Vestibule 3,62 · WC 3,16 · SAS 1,10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 sur 96,49 m² de terrasse sud, terrasse couverte de 30,69 m², piscine et cuisine d'été.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61872"/>
            <a:ext cx="4023360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  —  234,27 m²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64208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3 40,86 · Suite 4 41,16 · Hall 34,88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musculation 36,52 · Salle de projection 30,22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· Chambre froide 10,38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8,59 · Sanitaires 7,52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d'hôtellerie de luxe intégré à la villa.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941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Extérieurs 151,73 m² · Garage 74,67 m² · Zone technique 6,00 m²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relevées sur les plans d'esquisse ESQ.2 / ESQ.3 du 30/05/2025, à faire attester par un géomètre à la livraison.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BIEN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suites, pas quatre chambres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990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0078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suites de 39,85 m²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0299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159,41 m² de surface de couchage.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Dressings aménagés sur mesure dans chacune.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371600"/>
          </a:xfrm>
          <a:prstGeom prst="rect">
            <a:avLst/>
          </a:prstGeom>
          <a:solidFill>
            <a:srgbClr val="F4F2ED"/>
          </a:solidFill>
          <a:ln w="12700">
            <a:solidFill>
              <a:srgbClr val="F4F2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9744" y="13990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DU GOLFE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809744" y="170078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6 chambres de 15 à 20 m²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9744" y="20299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à 120 m² de surface de couchage.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pièces, moins de surface.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8229600" cy="950976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3035808"/>
            <a:ext cx="7790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surface de couchage égale, le programme égale les comparables à six chambres — mais en quatre volumes de standard hôtelier au lieu de six pièces standard. Un acquéreur de ce segment n'achète pas des lits, il achète des suites.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LES PRESTATIONS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prestations d'exception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23360" cy="129844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projection · 30,22 m²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3694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Vidéoprojecteur Epson Pro Cinema, système Bowers &amp; Wilkins, fauteuils cuir Fermob, traitement acoustique Vicoustic, Ecophon et Armstrong.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61872"/>
            <a:ext cx="4023360" cy="129844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musculation · 36,52 m²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64208"/>
            <a:ext cx="3694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Technogym Kinesis, presse Powertec, banc ATX Warrior, cardio Precor. Sanitaires et douche dédiés.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29844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8803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sur mesure · 8,59 m²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145536"/>
            <a:ext cx="3694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6 à 8 personnes, habillage cèdre rouge massif, poêle Harvia Vega Lux à pierres volcaniques.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29844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28803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Jacuzzi extérieur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145536"/>
            <a:ext cx="3694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 acrylique renforcée, pompe Balboa, habillage travertin, jets hydromassants réglables, éclairage LED multicolore.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LES PRESTATIONS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Matériaux, enveloppe et logistique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990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de réception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m² Miele Professional, table active Laurastar, adoucisseur ; chambre froide professionnelle 10,38 m² Fricon et Isocab.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61872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3990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à vin climatisée · 7 m²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1664208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température et hygrométrie Liebherr, façade bois exotique et vitrage trempé, étagères bois massif.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61872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3990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sur mesure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1664208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Îlot monolithique à retombée pierre, plan quartzite ou Dekton, façades chêne ou noyer, Miele et Gaggenau, robinetterie Dornbracht.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7980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0632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Travertin premium grand format en continuité intérieur-extérieur, seuils affleurants, parquet Panaget, enduits minéraux Mortex.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9272" y="2660904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83864" y="27980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RE2020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83864" y="30632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biosourcée fibre de bois, VMC double flux, pompe à chaleur gainable Daikin, menuiseries Technal, vitrage anti-effraction.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2660904"/>
            <a:ext cx="2688336" cy="122529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7980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Domotique et sûreté NIKO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30632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centralisée éclairages et volets, thermostat connecté, vidéosurveillance, portillon à reconnaissance faciale.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LES PRESTATIONS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Livrée meublée et décorée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La Crémerie : Bonaldo, La Chance, De Padova, Red Edition, Hamilton Conte, Luceplan, Saba Italia, Talenti.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675888"/>
            <a:ext cx="2688336" cy="96926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3785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 immédiatement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actif prêt dès la remise des clés, sans achat de mobilier ni période de mise en état.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3675888"/>
            <a:ext cx="2688336" cy="96926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785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délai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Reconstituer l'équivalent demande 18 à 24 mois de chantier, avec l'aléa de coût et de calendrier.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81344" y="3675888"/>
            <a:ext cx="2688336" cy="96926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3785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d'ensemble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décoration pensée avec l'architecture, que l'on n'obtient pas en meublant après coup.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LE PRIX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prix contraint par le coût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cette villa à l'identique coûte 4 761 814 € hors foncier. Le prix ne se défend pas malgré ce coût : il est contraint par lui.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au m² de surface intérieure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4617766" cy="603504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39696"/>
            <a:ext cx="46177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11 289 €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02398" y="1975104"/>
            <a:ext cx="2322530" cy="603504"/>
          </a:xfrm>
          <a:prstGeom prst="rect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02398" y="2139696"/>
            <a:ext cx="2322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5 711 €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1975104"/>
            <a:ext cx="1234440" cy="603504"/>
          </a:xfrm>
          <a:prstGeom prst="rect">
            <a:avLst/>
          </a:prstGeom>
          <a:solidFill>
            <a:srgbClr val="B03024"/>
          </a:solidFill>
          <a:ln w="12700">
            <a:solidFill>
              <a:srgbClr val="B030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88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hors foncier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102398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06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6883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et frais financiers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191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HORS FONCIER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4930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11 289 €/m²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8221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56,4 % — construction, équipements, extérieurs, mobilier, honoraires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9272" y="3072384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3191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4930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5 711 €/m²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465576" y="38221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28,6 % — 2 409 126 € pour 2 033 m² de terrain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1344" y="3072384"/>
            <a:ext cx="2688336" cy="11887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3191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ET FRAIS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4930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3 000 €/m²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8221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15,0 % — marge d'opération et portage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LE PRIX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bilan, poste par poste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" y="125272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25272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HT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504188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œuvre et second œuvre — 421,82 m² × 5 200 €/m²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031736" y="15041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2 193 464 €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" y="1805940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et local technique — 80,67 m² × 1 800 €/m²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8059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145 206 €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" y="2107692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d'exception — projection, cuisine, sport, sauna, chambre froide, domotique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21076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550 000 €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" y="2409444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Aménagements extérieurs — soutènements, paysagisme, terrasses travertin, piscine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240944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680 000 €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" y="2711196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Mobilier et décoration — sélection La Crémerie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7111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550 000 €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" y="3012948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Honoraires, assurances et taxes — maîtrise d'œuvre 13 %, DO et RCD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031736" y="30129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643 144 €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273552"/>
            <a:ext cx="8229600" cy="301752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7530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9496" y="3314700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hors foncier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031736" y="33147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4 761 814 €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77056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9496" y="3616452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d'opération et frais financiers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031736" y="36164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1 265 460 €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877056"/>
            <a:ext cx="8229600" cy="301752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9496" y="3918204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 — 1 185 €/m² de terrain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031736" y="39182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2 409 126 €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de marché, à substituer par les coûts réels de l'opération.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8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LE PRIX — LE RÉSULTAT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valeur foncière qu'implique un prix de 8 450 000 €, pour une parcelle de 2 033 m² avec vue mer à La Nartelle. C'est le bas de la fourchette du foncier constructible vue mer du Golfe.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932688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3566160"/>
            <a:ext cx="7754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Descendre sous 8 M€ reviendrait à valoriser ce terrain à moins de 900 €/m², ce qu'aucun propriétaire foncier de La Nartelle n'accepterait.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LE MARCHÉ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segment au-delà de 20 000 €/m²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Golfe de Saint-Tropez dispose d'un segment établi au-delà de 20 000 €/m². Ce sont les références du marché dans lequel la villa se positionne.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90856" y="1627632"/>
            <a:ext cx="0" cy="2414016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25096" y="41056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14539" y="1627632"/>
            <a:ext cx="0" cy="2414016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8779" y="41056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38221" y="1627632"/>
            <a:ext cx="0" cy="2414016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2461" y="41056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61904" y="1627632"/>
            <a:ext cx="0" cy="2414016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96144" y="41056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k€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23644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 — biens d'exception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02698" y="1751076"/>
            <a:ext cx="3059206" cy="15544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5912" y="17236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k€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25980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 — Les Salins, pieds dans l'eau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90856" y="2153412"/>
            <a:ext cx="2447365" cy="155448"/>
          </a:xfrm>
          <a:prstGeom prst="rect">
            <a:avLst/>
          </a:prstGeom>
          <a:solidFill>
            <a:srgbClr val="BE7B12"/>
          </a:solidFill>
          <a:ln w="12700">
            <a:solidFill>
              <a:srgbClr val="BE7B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02229" y="21259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k€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28316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 — médiane villa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43262" y="2574036"/>
            <a:ext cx="118872" cy="118872"/>
          </a:xfrm>
          <a:prstGeom prst="ellipse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21570" y="25283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25 000 €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930652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Sainte-Maxime — contemporaine 295 m², vue mer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6249" y="2976372"/>
            <a:ext cx="118872" cy="118872"/>
          </a:xfrm>
          <a:prstGeom prst="ellipse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4557" y="29306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23 390 €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332988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A4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 — moyenne maisons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81689" y="3378708"/>
            <a:ext cx="118872" cy="118872"/>
          </a:xfrm>
          <a:prstGeom prst="ellipse">
            <a:avLst/>
          </a:prstGeom>
          <a:solidFill>
            <a:srgbClr val="2064C0"/>
          </a:solidFill>
          <a:ln w="12700">
            <a:solidFill>
              <a:srgbClr val="2064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59997" y="33329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21 228 €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735324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 — 421,82 m²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9616" y="3735324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5A0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5336" y="3781044"/>
            <a:ext cx="118872" cy="118872"/>
          </a:xfrm>
          <a:prstGeom prst="ellipse">
            <a:avLst/>
          </a:prstGeom>
          <a:solidFill>
            <a:srgbClr val="1E1A14"/>
          </a:solidFill>
          <a:ln w="12700">
            <a:solidFill>
              <a:srgbClr val="1E1A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68508" y="37353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20 032 €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Fourchettes et valeurs relevées en septembre 2026. Panel volontairement restreint au segment supérieur à 20 000 €/m² : le marché de Sainte-Maxime comporte des biens à des niveaux inférieurs, non représentés ici.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LE MARCHÉ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position dans le Golfe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Sainte-Maxime fait face à Saint-Tropez, à quinze minutes par la mer. À 20 032 €/m², la villa se situe au seuil d'entrée du segment supérieur.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82496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" y="17099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DU SEGMENT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105656" y="170992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391656" y="1709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€/M²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854696" y="17099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" y="19613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d'exception, vue et emplacement réunis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05656" y="19613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19613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50 000 €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854696" y="19613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60 %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" y="22905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pieds dans l'eau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05656" y="22905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Saint-Tropez, Les Salins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2905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– 40 000 €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54696" y="22905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20 %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" y="26197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 d'une villa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105656" y="26197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26197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25 000 €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854696" y="26197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20 %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236976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" y="29489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contemporaine 295 m², vue mer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105656" y="29489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Sainte-Maxime, réf. 2025-17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91656" y="29489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23 390 €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854696" y="29489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14 %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" y="32781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des maisons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105656" y="32781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Saint-Tropez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91656" y="32781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21 228 €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54696" y="32781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6 %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8229600" cy="329184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89534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9496" y="360730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 — neuve, meublée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105656" y="36073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Sainte-Maxime, La Nartelle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391656" y="36073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20 032 €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854696" y="36073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9867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villa se positionne sous chacune des références du segment. L'écart indique de combien elle leur est inférieure.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LES AVANTAGES DU NEUF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L'avantage fiscal du neuf : 422 500 €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31336" y="12710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 SOUS TVA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300216" y="12710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ANCIENNE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5224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affiché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31336" y="152247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8 450 000 €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0216" y="152247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8 450 000 €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" y="18699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d'acte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18699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2,5 % — 211 250 €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8699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7,5 % — 633 750 €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8229600" cy="347472"/>
          </a:xfrm>
          <a:prstGeom prst="rect">
            <a:avLst/>
          </a:prstGeom>
          <a:solidFill>
            <a:srgbClr val="F6EFE0"/>
          </a:solidFill>
          <a:ln w="12700">
            <a:solidFill>
              <a:srgbClr val="F6E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2374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" y="22174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d'acquisition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831336" y="22174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8 661 250 €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22174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9 083 750 €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2907792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422 500 € d'écart, soit 1 002 €/m²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3438144"/>
            <a:ext cx="7754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bien neuf à 8 450 000 € coûte moins cher, tout compris, qu'une villa ancienne affichée à 8 030 000 €. Cet avantage n'apparaît jamais dans une comparaison au m² brute.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de TVA et taux de frais d'acte à confirmer auprès du notaire chargé de la vente.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LES AVANTAGES DU NEUF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travaux, et six avantages de plus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3385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07592"/>
            <a:ext cx="7936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PENDANT VINGT ANS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609344"/>
            <a:ext cx="7936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7936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Décennale, dommages-ouvrage et parfait achèvement. Une villa ancienne équivalente demande 845 000 à 1 267 500 € de remise à niveau dans les cinq ans.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" y="242316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42616" y="2423160"/>
            <a:ext cx="5961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" y="267462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délai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2674620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clé en main. Reconstituer l'équivalent demande 18 à 24 mois de chantier.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" y="29855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immédiate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42616" y="2985516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locatif opérationnel dès la première saison, sans achat de mobilier.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" y="32964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verte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642616" y="3296412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RE2020. Le marché secondaire décote désormais les biens énergivores.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" y="360730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non reproductible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642616" y="3607308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Littoral interdit toute création nouvelle en frange côtière.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" y="391820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Emprise et respiration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642616" y="3918204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19,6 % d'emprise, 1 635 m² d'extérieurs, 151,73 m² de terrasses.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9884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9496" y="422910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porteur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642616" y="4229100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40 % des ventes françaises au-delà de 5 M€ ; +54 % de volume sur le segment &gt; 3 M€ au S1 2026.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LE VOLUME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marché de la tranche 7 – 15 M€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CÔTE D'AZUR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40 %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ventes françaises au-delà de 5 M€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188720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DU MARCHÉ TROPÉZIEN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– 30 M€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19385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8,45 M€ y est un point d'entrée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188720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SUPÉRIEUR À 3 M€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+ 54 %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9385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volume au S1 2026, source Barnes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252374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ACQUÉREURS ÉTRANGERS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8254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70 %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1546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américains, scandinaves, germanophones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9272" y="2404872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252374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RÉSIDENCES SECONDAIRES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28254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– 85 %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465576" y="31546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acquisitions du Golfe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1344" y="2404872"/>
            <a:ext cx="2688336" cy="1042416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52374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DES PRIX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28254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Maintenus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1546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ventes, pas de baisse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84448"/>
            <a:ext cx="8229600" cy="78638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71246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comptage sur dix ans s'obtient en interrogeant directement la base des mutations. Le résultat sera un plancher : les cessions de parts de SCI et les ventes off-market, majoritaires sur cette tranche, n'y figurent jamais. Le marché réel est plus profond que ce que les statistiques laissent voir.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COMPARABLES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Références de ventes comparables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à compléter avec les comparables privés de l'agence — ventes off-market, cessions de parts de SCI, dossiers confrères. Ce sont les seules références de ventes actées qui puissent figurer ici.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00784"/>
            <a:ext cx="8229600" cy="23774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" y="1728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362456" y="172821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/ SECTEUR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191256" y="1728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014216" y="1728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837176" y="172821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843016" y="1728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€/M²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665976" y="17282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9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ET SOURCE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" y="19796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62456" y="197967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191256" y="19796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014216" y="19796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9796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43016" y="19796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665976" y="197967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actée / parts de SCI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" y="22905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62456" y="229057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191256" y="22905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014216" y="22905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37176" y="22905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843016" y="22905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665976" y="22905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71216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9496" y="26014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362456" y="260146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191256" y="26014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014216" y="26014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837176" y="26014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43016" y="26014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665976" y="260146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182112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9496" y="29123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362456" y="291236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191256" y="29123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014216" y="29123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837176" y="29123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843016" y="29123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665976" y="291236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E2DC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9496" y="32232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362456" y="322326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3191256" y="32232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014216" y="32232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837176" y="32232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843016" y="32232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665976" y="3223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D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ligne, indiquer si la référence est attestable et par qui — une vente attestée par le professionnel qui l'a réalisée a valeur probante, y compris en appui bancaire.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SYNTHÈSE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3977640" cy="106070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007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4 761 814 €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hors foncier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408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est contraint par le coût, pas par une ambition de marge.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591056"/>
            <a:ext cx="3977640" cy="106070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7007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214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3408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parcelle vue mer de 2 033 m². Le bas de la fourchette du Golfe.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77640" cy="106070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358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422 500 €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564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fiscal du neuf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Encaissé par l'acquéreur dès la signature, soit 1 002 €/m².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3977640" cy="106070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358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20 032 €/m²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564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seuil d'entrée du segment supérieur, sous la moyenne tropézienne.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villa neuve de 421,82 m², quatre suites, cinéma, spa et cave à vin, livrée meublée sur 2 033 m² — pour le prix d'entrée du segment que Saint-Tropez traite entre 20 000 et 40 000 €/m².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 Roi de la Camargue — défense de prix</dc:title>
  <dc:subject>PptxGenJS Presentation</dc:subject>
  <dc:creator>La Crémerie / Cercle Privé</dc:creator>
  <cp:lastModifiedBy>La Crémerie / Cercle Privé</cp:lastModifiedBy>
  <cp:revision>1</cp:revision>
  <dcterms:created xsi:type="dcterms:W3CDTF">2026-09-01T11:55:07Z</dcterms:created>
  <dcterms:modified xsi:type="dcterms:W3CDTF">2026-09-01T11:55:07Z</dcterms:modified>
</cp:coreProperties>
</file>