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8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457200" y="4572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000" b="1" spc="240" kern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CRÉMERIE · CERCLE PRIVÉ</a:t>
            </a:r>
            <a:endParaRPr sz="1000"/>
          </a:p>
        </p:txBody>
      </p:sp>
      <p:sp>
        <p:nvSpPr>
          <p:cNvPr id="3" name=""/>
          <p:cNvSpPr txBox="1"/>
          <p:nvPr/>
        </p:nvSpPr>
        <p:spPr>
          <a:xfrm>
            <a:off x="457200" y="1170432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sz="440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Villa Roi de la Camargue</a:t>
            </a:r>
            <a:endParaRPr sz="4400"/>
          </a:p>
        </p:txBody>
      </p:sp>
      <p:sp>
        <p:nvSpPr>
          <p:cNvPr id="4" name=""/>
          <p:cNvSpPr txBox="1"/>
          <p:nvPr/>
        </p:nvSpPr>
        <p:spPr>
          <a:xfrm>
            <a:off x="457200" y="2048256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200">
                <a:solidFill>
                  <a:srgbClr val="B9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 avenue du Roi de la Camargue — La Nartelle, 83120 Sainte-Maxime · Parcelle AF 168</a:t>
            </a:r>
            <a:endParaRPr sz="1200"/>
          </a:p>
        </p:txBody>
      </p:sp>
      <p:sp>
        <p:nvSpPr>
          <p:cNvPr id="5" name=""/>
          <p:cNvSpPr txBox="1"/>
          <p:nvPr/>
        </p:nvSpPr>
        <p:spPr>
          <a:xfrm>
            <a:off x="457200" y="239572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200" i="1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Dossier de défense de prix</a:t>
            </a:r>
            <a:endParaRPr sz="1200"/>
          </a:p>
        </p:txBody>
      </p:sp>
      <p:sp>
        <p:nvSpPr>
          <p:cNvPr id="6" name="Shape 4"/>
          <p:cNvSpPr/>
          <p:nvPr/>
        </p:nvSpPr>
        <p:spPr>
          <a:xfrm>
            <a:off x="457200" y="3063240"/>
            <a:ext cx="3977640" cy="1207008"/>
          </a:xfrm>
          <a:prstGeom prst="rect">
            <a:avLst/>
          </a:prstGeom>
          <a:solidFill>
            <a:srgbClr val="2A241A"/>
          </a:solidFill>
          <a:ln w="12700">
            <a:solidFill>
              <a:srgbClr val="2A241A"/>
            </a:solidFill>
            <a:prstDash val="solid"/>
          </a:ln>
        </p:spPr>
      </p:sp>
      <p:sp>
        <p:nvSpPr>
          <p:cNvPr id="7" name=""/>
          <p:cNvSpPr txBox="1"/>
          <p:nvPr/>
        </p:nvSpPr>
        <p:spPr>
          <a:xfrm>
            <a:off x="640080" y="320040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850" b="1" spc="110" kern="0">
                <a:solidFill>
                  <a:srgbClr val="9A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 DE PRÉSENTATION</a:t>
            </a:r>
            <a:endParaRPr sz="850"/>
          </a:p>
        </p:txBody>
      </p:sp>
      <p:sp>
        <p:nvSpPr>
          <p:cNvPr id="8" name=""/>
          <p:cNvSpPr txBox="1"/>
          <p:nvPr/>
        </p:nvSpPr>
        <p:spPr>
          <a:xfrm>
            <a:off x="640080" y="3456432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360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8 450 000 €</a:t>
            </a:r>
            <a:endParaRPr sz="3600"/>
          </a:p>
        </p:txBody>
      </p:sp>
      <p:sp>
        <p:nvSpPr>
          <p:cNvPr id="9" name="Shape 7"/>
          <p:cNvSpPr/>
          <p:nvPr/>
        </p:nvSpPr>
        <p:spPr>
          <a:xfrm>
            <a:off x="4709160" y="3063240"/>
            <a:ext cx="3977640" cy="1207008"/>
          </a:xfrm>
          <a:prstGeom prst="rect">
            <a:avLst/>
          </a:prstGeom>
          <a:solidFill>
            <a:srgbClr val="2A241A"/>
          </a:solidFill>
          <a:ln w="12700">
            <a:solidFill>
              <a:srgbClr val="2A241A"/>
            </a:solidFill>
            <a:prstDash val="solid"/>
          </a:ln>
        </p:spPr>
      </p:sp>
      <p:sp>
        <p:nvSpPr>
          <p:cNvPr id="10" name=""/>
          <p:cNvSpPr txBox="1"/>
          <p:nvPr/>
        </p:nvSpPr>
        <p:spPr>
          <a:xfrm>
            <a:off x="4892040" y="320040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850" b="1" spc="110" kern="0">
                <a:solidFill>
                  <a:srgbClr val="9A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SOIT, SUR 421,82 M² INTÉRIEURS</a:t>
            </a:r>
            <a:endParaRPr sz="850"/>
          </a:p>
        </p:txBody>
      </p:sp>
      <p:sp>
        <p:nvSpPr>
          <p:cNvPr id="11" name=""/>
          <p:cNvSpPr txBox="1"/>
          <p:nvPr/>
        </p:nvSpPr>
        <p:spPr>
          <a:xfrm>
            <a:off x="4892040" y="3456432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3600">
                <a:solidFill>
                  <a:srgbClr val="D9A5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20 032 €/m²</a:t>
            </a:r>
            <a:endParaRPr sz="3600"/>
          </a:p>
        </p:txBody>
      </p:sp>
      <p:sp>
        <p:nvSpPr>
          <p:cNvPr id="12" name=""/>
          <p:cNvSpPr txBox="1"/>
          <p:nvPr/>
        </p:nvSpPr>
        <p:spPr>
          <a:xfrm>
            <a:off x="457200" y="45765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950">
                <a:solidFill>
                  <a:srgbClr val="7A72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Septembre 2026</a:t>
            </a:r>
            <a:endParaRPr sz="95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457200" y="31089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000" b="1" spc="200" kern="0">
                <a:solidFill>
                  <a:srgbClr val="8A5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· LE PROGRAMME</a:t>
            </a:r>
            <a:endParaRPr sz="1000"/>
          </a:p>
        </p:txBody>
      </p:sp>
      <p:sp>
        <p:nvSpPr>
          <p:cNvPr id="3" name=""/>
          <p:cNvSpPr txBox="1"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sz="2800">
                <a:solidFill>
                  <a:srgbClr val="1E1A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bien en un regard</a:t>
            </a:r>
            <a:endParaRPr sz="280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2688336" cy="1207008"/>
          </a:xfrm>
          <a:prstGeom prst="rect">
            <a:avLst/>
          </a:prstGeom>
          <a:solidFill>
            <a:srgbClr val="EFEBE2"/>
          </a:solidFill>
          <a:ln w="12700">
            <a:solidFill>
              <a:srgbClr val="EFEBE2"/>
            </a:solidFill>
            <a:prstDash val="solid"/>
          </a:ln>
        </p:spPr>
      </p:sp>
      <p:sp>
        <p:nvSpPr>
          <p:cNvPr id="5" name=""/>
          <p:cNvSpPr txBox="1"/>
          <p:nvPr/>
        </p:nvSpPr>
        <p:spPr>
          <a:xfrm>
            <a:off x="603504" y="1417320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sz="850" b="1" spc="110" kern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PARCELLE AF 168</a:t>
            </a:r>
            <a:endParaRPr sz="850"/>
          </a:p>
        </p:txBody>
      </p:sp>
      <p:sp>
        <p:nvSpPr>
          <p:cNvPr id="6" name=""/>
          <p:cNvSpPr txBox="1"/>
          <p:nvPr/>
        </p:nvSpPr>
        <p:spPr>
          <a:xfrm>
            <a:off x="603504" y="1719072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sz="2000">
                <a:solidFill>
                  <a:srgbClr val="8A5A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2 033 m²</a:t>
            </a:r>
            <a:endParaRPr sz="2000"/>
          </a:p>
        </p:txBody>
      </p:sp>
      <p:sp>
        <p:nvSpPr>
          <p:cNvPr id="7" name=""/>
          <p:cNvSpPr txBox="1"/>
          <p:nvPr/>
        </p:nvSpPr>
        <p:spPr>
          <a:xfrm>
            <a:off x="603504" y="2048256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sz="90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dont 1 635 m² d'extérieurs</a:t>
            </a:r>
            <a:endParaRPr sz="900"/>
          </a:p>
        </p:txBody>
      </p:sp>
      <p:sp>
        <p:nvSpPr>
          <p:cNvPr id="8" name="Shape 6"/>
          <p:cNvSpPr/>
          <p:nvPr/>
        </p:nvSpPr>
        <p:spPr>
          <a:xfrm>
            <a:off x="3319272" y="1298448"/>
            <a:ext cx="2688336" cy="1207008"/>
          </a:xfrm>
          <a:prstGeom prst="rect">
            <a:avLst/>
          </a:prstGeom>
          <a:solidFill>
            <a:srgbClr val="EFEBE2"/>
          </a:solidFill>
          <a:ln w="12700">
            <a:solidFill>
              <a:srgbClr val="EFEBE2"/>
            </a:solidFill>
            <a:prstDash val="solid"/>
          </a:ln>
        </p:spPr>
      </p:sp>
      <p:sp>
        <p:nvSpPr>
          <p:cNvPr id="9" name=""/>
          <p:cNvSpPr txBox="1"/>
          <p:nvPr/>
        </p:nvSpPr>
        <p:spPr>
          <a:xfrm>
            <a:off x="3465576" y="1417320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sz="850" b="1" spc="110" kern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INTÉRIEURE</a:t>
            </a:r>
            <a:endParaRPr sz="850"/>
          </a:p>
        </p:txBody>
      </p:sp>
      <p:sp>
        <p:nvSpPr>
          <p:cNvPr id="10" name=""/>
          <p:cNvSpPr txBox="1"/>
          <p:nvPr/>
        </p:nvSpPr>
        <p:spPr>
          <a:xfrm>
            <a:off x="3465576" y="1719072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sz="2000">
                <a:solidFill>
                  <a:srgbClr val="8A5A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421,82 m²</a:t>
            </a:r>
            <a:endParaRPr sz="2000"/>
          </a:p>
        </p:txBody>
      </p:sp>
      <p:sp>
        <p:nvSpPr>
          <p:cNvPr id="11" name=""/>
          <p:cNvSpPr txBox="1"/>
          <p:nvPr/>
        </p:nvSpPr>
        <p:spPr>
          <a:xfrm>
            <a:off x="3465576" y="2048256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sz="90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hors garage et local technique</a:t>
            </a:r>
            <a:endParaRPr sz="900"/>
          </a:p>
        </p:txBody>
      </p:sp>
      <p:sp>
        <p:nvSpPr>
          <p:cNvPr id="12" name="Shape 10"/>
          <p:cNvSpPr/>
          <p:nvPr/>
        </p:nvSpPr>
        <p:spPr>
          <a:xfrm>
            <a:off x="6181344" y="1298448"/>
            <a:ext cx="2688336" cy="1207008"/>
          </a:xfrm>
          <a:prstGeom prst="rect">
            <a:avLst/>
          </a:prstGeom>
          <a:solidFill>
            <a:srgbClr val="EFEBE2"/>
          </a:solidFill>
          <a:ln w="12700">
            <a:solidFill>
              <a:srgbClr val="EFEBE2"/>
            </a:solidFill>
            <a:prstDash val="solid"/>
          </a:ln>
        </p:spPr>
      </p:sp>
      <p:sp>
        <p:nvSpPr>
          <p:cNvPr id="13" name=""/>
          <p:cNvSpPr txBox="1"/>
          <p:nvPr/>
        </p:nvSpPr>
        <p:spPr>
          <a:xfrm>
            <a:off x="6327648" y="1417320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sz="850" b="1" spc="110" kern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SUITES</a:t>
            </a:r>
            <a:endParaRPr sz="850"/>
          </a:p>
        </p:txBody>
      </p:sp>
      <p:sp>
        <p:nvSpPr>
          <p:cNvPr id="14" name=""/>
          <p:cNvSpPr txBox="1"/>
          <p:nvPr/>
        </p:nvSpPr>
        <p:spPr>
          <a:xfrm>
            <a:off x="6327648" y="1719072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sz="2000">
                <a:solidFill>
                  <a:srgbClr val="8A5A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× 39,85 m²</a:t>
            </a:r>
            <a:endParaRPr sz="2000"/>
          </a:p>
        </p:txBody>
      </p:sp>
      <p:sp>
        <p:nvSpPr>
          <p:cNvPr id="15" name=""/>
          <p:cNvSpPr txBox="1"/>
          <p:nvPr/>
        </p:nvSpPr>
        <p:spPr>
          <a:xfrm>
            <a:off x="6327648" y="2048256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sz="90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36,54 à 41,16 m²</a:t>
            </a:r>
            <a:endParaRPr sz="900"/>
          </a:p>
        </p:txBody>
      </p:sp>
      <p:sp>
        <p:nvSpPr>
          <p:cNvPr id="16" name="Shape 14"/>
          <p:cNvSpPr/>
          <p:nvPr/>
        </p:nvSpPr>
        <p:spPr>
          <a:xfrm>
            <a:off x="457200" y="2679192"/>
            <a:ext cx="2688336" cy="1207008"/>
          </a:xfrm>
          <a:prstGeom prst="rect">
            <a:avLst/>
          </a:prstGeom>
          <a:solidFill>
            <a:srgbClr val="EFEBE2"/>
          </a:solidFill>
          <a:ln w="12700">
            <a:solidFill>
              <a:srgbClr val="EFEBE2"/>
            </a:solidFill>
            <a:prstDash val="solid"/>
          </a:ln>
        </p:spPr>
      </p:sp>
      <p:sp>
        <p:nvSpPr>
          <p:cNvPr id="17" name=""/>
          <p:cNvSpPr txBox="1"/>
          <p:nvPr/>
        </p:nvSpPr>
        <p:spPr>
          <a:xfrm>
            <a:off x="603504" y="2798064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sz="850" b="1" spc="110" kern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EMPRISE AU SOL</a:t>
            </a:r>
            <a:endParaRPr sz="850"/>
          </a:p>
        </p:txBody>
      </p:sp>
      <p:sp>
        <p:nvSpPr>
          <p:cNvPr id="18" name=""/>
          <p:cNvSpPr txBox="1"/>
          <p:nvPr/>
        </p:nvSpPr>
        <p:spPr>
          <a:xfrm>
            <a:off x="603504" y="3099816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sz="2000">
                <a:solidFill>
                  <a:srgbClr val="8A5A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397,68 m²</a:t>
            </a:r>
            <a:endParaRPr sz="2000"/>
          </a:p>
        </p:txBody>
      </p:sp>
      <p:sp>
        <p:nvSpPr>
          <p:cNvPr id="19" name=""/>
          <p:cNvSpPr txBox="1"/>
          <p:nvPr/>
        </p:nvSpPr>
        <p:spPr>
          <a:xfrm>
            <a:off x="603504" y="3429000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sz="90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19,6 % de la parcelle</a:t>
            </a:r>
            <a:endParaRPr sz="900"/>
          </a:p>
        </p:txBody>
      </p:sp>
      <p:sp>
        <p:nvSpPr>
          <p:cNvPr id="20" name="Shape 18"/>
          <p:cNvSpPr/>
          <p:nvPr/>
        </p:nvSpPr>
        <p:spPr>
          <a:xfrm>
            <a:off x="3319272" y="2679192"/>
            <a:ext cx="2688336" cy="1207008"/>
          </a:xfrm>
          <a:prstGeom prst="rect">
            <a:avLst/>
          </a:prstGeom>
          <a:solidFill>
            <a:srgbClr val="EFEBE2"/>
          </a:solidFill>
          <a:ln w="12700">
            <a:solidFill>
              <a:srgbClr val="EFEBE2"/>
            </a:solidFill>
            <a:prstDash val="solid"/>
          </a:ln>
        </p:spPr>
      </p:sp>
      <p:sp>
        <p:nvSpPr>
          <p:cNvPr id="21" name=""/>
          <p:cNvSpPr txBox="1"/>
          <p:nvPr/>
        </p:nvSpPr>
        <p:spPr>
          <a:xfrm>
            <a:off x="3465576" y="2798064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sz="850" b="1" spc="110" kern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TERRASSES</a:t>
            </a:r>
            <a:endParaRPr sz="850"/>
          </a:p>
        </p:txBody>
      </p:sp>
      <p:sp>
        <p:nvSpPr>
          <p:cNvPr id="22" name=""/>
          <p:cNvSpPr txBox="1"/>
          <p:nvPr/>
        </p:nvSpPr>
        <p:spPr>
          <a:xfrm>
            <a:off x="3465576" y="3099816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sz="2000">
                <a:solidFill>
                  <a:srgbClr val="8A5A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151,73 m²</a:t>
            </a:r>
            <a:endParaRPr sz="2000"/>
          </a:p>
        </p:txBody>
      </p:sp>
      <p:sp>
        <p:nvSpPr>
          <p:cNvPr id="23" name=""/>
          <p:cNvSpPr txBox="1"/>
          <p:nvPr/>
        </p:nvSpPr>
        <p:spPr>
          <a:xfrm>
            <a:off x="3465576" y="3429000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sz="90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dont 30,69 m² couverts</a:t>
            </a:r>
            <a:endParaRPr sz="900"/>
          </a:p>
        </p:txBody>
      </p:sp>
      <p:sp>
        <p:nvSpPr>
          <p:cNvPr id="24" name="Shape 22"/>
          <p:cNvSpPr/>
          <p:nvPr/>
        </p:nvSpPr>
        <p:spPr>
          <a:xfrm>
            <a:off x="6181344" y="2679192"/>
            <a:ext cx="2688336" cy="1207008"/>
          </a:xfrm>
          <a:prstGeom prst="rect">
            <a:avLst/>
          </a:prstGeom>
          <a:solidFill>
            <a:srgbClr val="EFEBE2"/>
          </a:solidFill>
          <a:ln w="12700">
            <a:solidFill>
              <a:srgbClr val="EFEBE2"/>
            </a:solidFill>
            <a:prstDash val="solid"/>
          </a:ln>
        </p:spPr>
      </p:sp>
      <p:sp>
        <p:nvSpPr>
          <p:cNvPr id="25" name=""/>
          <p:cNvSpPr txBox="1"/>
          <p:nvPr/>
        </p:nvSpPr>
        <p:spPr>
          <a:xfrm>
            <a:off x="6327648" y="2798064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sz="850" b="1" spc="110" kern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DE PLANCHER</a:t>
            </a:r>
            <a:endParaRPr sz="850"/>
          </a:p>
        </p:txBody>
      </p:sp>
      <p:sp>
        <p:nvSpPr>
          <p:cNvPr id="26" name=""/>
          <p:cNvSpPr txBox="1"/>
          <p:nvPr/>
        </p:nvSpPr>
        <p:spPr>
          <a:xfrm>
            <a:off x="6327648" y="3099816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sz="2000">
                <a:solidFill>
                  <a:srgbClr val="8A5A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502,49 m²</a:t>
            </a:r>
            <a:endParaRPr sz="2000"/>
          </a:p>
        </p:txBody>
      </p:sp>
      <p:sp>
        <p:nvSpPr>
          <p:cNvPr id="27" name=""/>
          <p:cNvSpPr txBox="1"/>
          <p:nvPr/>
        </p:nvSpPr>
        <p:spPr>
          <a:xfrm>
            <a:off x="6327648" y="3429000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sz="90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garage 74,67 m² inclus</a:t>
            </a:r>
            <a:endParaRPr sz="900"/>
          </a:p>
        </p:txBody>
      </p:sp>
      <p:sp>
        <p:nvSpPr>
          <p:cNvPr id="28" name=""/>
          <p:cNvSpPr txBox="1"/>
          <p:nvPr/>
        </p:nvSpPr>
        <p:spPr>
          <a:xfrm>
            <a:off x="457200" y="413308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200">
                <a:solidFill>
                  <a:srgbClr val="1E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Villa neuve, livrée équipée et meublée. Position perchée vue mer, entre +37,92 et +44,77 NGF.</a:t>
            </a:r>
            <a:endParaRPr sz="1200"/>
          </a:p>
        </p:txBody>
      </p:sp>
      <p:sp>
        <p:nvSpPr>
          <p:cNvPr id="29" name=""/>
          <p:cNvSpPr txBox="1"/>
          <p:nvPr/>
        </p:nvSpPr>
        <p:spPr>
          <a:xfrm>
            <a:off x="457200" y="466801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sz="850" i="1">
                <a:solidFill>
                  <a:srgbClr val="8E8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 relevées sur les plans d'esquisse ESQ.2 / ESQ.3 du 30/05/2025, indice 120 — à faire attester par un géomètre à la livraison.</a:t>
            </a:r>
            <a:endParaRPr sz="8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457200" y="31089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000" b="1" spc="200" kern="0">
                <a:solidFill>
                  <a:srgbClr val="8A5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· LE PROGRAMME</a:t>
            </a:r>
            <a:endParaRPr sz="1000"/>
          </a:p>
        </p:txBody>
      </p:sp>
      <p:sp>
        <p:nvSpPr>
          <p:cNvPr id="3" name=""/>
          <p:cNvSpPr txBox="1"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sz="2800">
                <a:solidFill>
                  <a:srgbClr val="1E1A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Deux niveaux, 421,82 m² intérieurs</a:t>
            </a:r>
            <a:endParaRPr sz="280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023360" cy="2395728"/>
          </a:xfrm>
          <a:prstGeom prst="rect">
            <a:avLst/>
          </a:prstGeom>
          <a:solidFill>
            <a:srgbClr val="EFEBE2"/>
          </a:solidFill>
          <a:ln w="12700">
            <a:solidFill>
              <a:srgbClr val="EFEBE2"/>
            </a:solidFill>
            <a:prstDash val="solid"/>
          </a:ln>
        </p:spPr>
      </p:sp>
      <p:sp>
        <p:nvSpPr>
          <p:cNvPr id="5" name=""/>
          <p:cNvSpPr txBox="1"/>
          <p:nvPr/>
        </p:nvSpPr>
        <p:spPr>
          <a:xfrm>
            <a:off x="621792" y="1417320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sz="1200" b="1">
                <a:solidFill>
                  <a:srgbClr val="1E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R+1  —  187,55 m²</a:t>
            </a:r>
            <a:endParaRPr sz="1200"/>
          </a:p>
        </p:txBody>
      </p:sp>
      <p:sp>
        <p:nvSpPr>
          <p:cNvPr id="6" name=""/>
          <p:cNvSpPr txBox="1"/>
          <p:nvPr/>
        </p:nvSpPr>
        <p:spPr>
          <a:xfrm>
            <a:off x="621792" y="1682496"/>
            <a:ext cx="3694176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sz="105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Séjour 54,75 · Suite 1 40,85 · Suite 2 36,54</a:t>
            </a:r>
            <a:endParaRPr sz="1050"/>
          </a:p>
          <a:p>
            <a:pPr indent="0" marL="0">
              <a:lnSpc>
                <a:spcPts val="1400"/>
              </a:lnSpc>
              <a:buNone/>
            </a:pPr>
            <a:r>
              <a:rPr sz="105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Cuisine 18,15 · Bureau 13,48 · Entrée 9,79</a:t>
            </a:r>
            <a:endParaRPr sz="1050"/>
          </a:p>
          <a:p>
            <a:pPr indent="0" marL="0">
              <a:lnSpc>
                <a:spcPts val="1400"/>
              </a:lnSpc>
              <a:buNone/>
            </a:pPr>
            <a:r>
              <a:rPr sz="105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 6,11 · Vestibule 3,62 · WC 3,16 · SAS 1,10</a:t>
            </a:r>
            <a:endParaRPr sz="1050"/>
          </a:p>
          <a:p>
            <a:pPr indent="0" marL="0">
              <a:lnSpc>
                <a:spcPts val="1400"/>
              </a:lnSpc>
              <a:buNone/>
            </a:pPr>
            <a:endParaRPr sz="1050"/>
          </a:p>
          <a:p>
            <a:pPr indent="0" marL="0">
              <a:lnSpc>
                <a:spcPts val="1400"/>
              </a:lnSpc>
              <a:buNone/>
            </a:pPr>
            <a:r>
              <a:rPr sz="105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Ouvert sur 96,49 m² de terrasse sud, terrasse couverte de 30,69 m², piscine et cuisine d'été.</a:t>
            </a:r>
            <a:endParaRPr sz="1050"/>
          </a:p>
        </p:txBody>
      </p:sp>
      <p:sp>
        <p:nvSpPr>
          <p:cNvPr id="7" name="Shape 5"/>
          <p:cNvSpPr/>
          <p:nvPr/>
        </p:nvSpPr>
        <p:spPr>
          <a:xfrm>
            <a:off x="4663440" y="1280160"/>
            <a:ext cx="4023360" cy="2395728"/>
          </a:xfrm>
          <a:prstGeom prst="rect">
            <a:avLst/>
          </a:prstGeom>
          <a:solidFill>
            <a:srgbClr val="EFEBE2"/>
          </a:solidFill>
          <a:ln w="12700">
            <a:solidFill>
              <a:srgbClr val="EFEBE2"/>
            </a:solidFill>
            <a:prstDash val="solid"/>
          </a:ln>
        </p:spPr>
      </p:sp>
      <p:sp>
        <p:nvSpPr>
          <p:cNvPr id="8" name=""/>
          <p:cNvSpPr txBox="1"/>
          <p:nvPr/>
        </p:nvSpPr>
        <p:spPr>
          <a:xfrm>
            <a:off x="4828032" y="1417320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sz="1200" b="1">
                <a:solidFill>
                  <a:srgbClr val="1E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R-0  —  234,27 m²</a:t>
            </a:r>
            <a:endParaRPr sz="1200"/>
          </a:p>
        </p:txBody>
      </p:sp>
      <p:sp>
        <p:nvSpPr>
          <p:cNvPr id="9" name=""/>
          <p:cNvSpPr txBox="1"/>
          <p:nvPr/>
        </p:nvSpPr>
        <p:spPr>
          <a:xfrm>
            <a:off x="4828032" y="1682496"/>
            <a:ext cx="3694176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sz="105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Suite 3 40,86 · Suite 4 41,16 · Hall 34,88</a:t>
            </a:r>
            <a:endParaRPr sz="1050"/>
          </a:p>
          <a:p>
            <a:pPr indent="0" marL="0">
              <a:lnSpc>
                <a:spcPts val="1400"/>
              </a:lnSpc>
              <a:buNone/>
            </a:pPr>
            <a:r>
              <a:rPr sz="105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Salle de musculation 36,52 · Salle de projection 30,22</a:t>
            </a:r>
            <a:endParaRPr sz="1050"/>
          </a:p>
          <a:p>
            <a:pPr indent="0" marL="0">
              <a:lnSpc>
                <a:spcPts val="1400"/>
              </a:lnSpc>
              <a:buNone/>
            </a:pPr>
            <a:r>
              <a:rPr sz="105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Lingerie 24,14 · Chambre froide 10,38</a:t>
            </a:r>
            <a:endParaRPr sz="1050"/>
          </a:p>
          <a:p>
            <a:pPr indent="0" marL="0">
              <a:lnSpc>
                <a:spcPts val="1400"/>
              </a:lnSpc>
              <a:buNone/>
            </a:pPr>
            <a:r>
              <a:rPr sz="105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Sauna 8,59 · Sanitaires 7,52</a:t>
            </a:r>
            <a:endParaRPr sz="1050"/>
          </a:p>
          <a:p>
            <a:pPr indent="0" marL="0">
              <a:lnSpc>
                <a:spcPts val="1400"/>
              </a:lnSpc>
              <a:buNone/>
            </a:pPr>
            <a:endParaRPr sz="1050"/>
          </a:p>
          <a:p>
            <a:pPr indent="0" marL="0">
              <a:lnSpc>
                <a:spcPts val="1400"/>
              </a:lnSpc>
              <a:buNone/>
            </a:pPr>
            <a:r>
              <a:rPr sz="105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programme d'hôtellerie de luxe intégré à la villa.</a:t>
            </a:r>
            <a:endParaRPr sz="1050"/>
          </a:p>
        </p:txBody>
      </p:sp>
      <p:sp>
        <p:nvSpPr>
          <p:cNvPr id="10" name=""/>
          <p:cNvSpPr txBox="1"/>
          <p:nvPr/>
        </p:nvSpPr>
        <p:spPr>
          <a:xfrm>
            <a:off x="457200" y="382219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150">
                <a:solidFill>
                  <a:srgbClr val="1E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R-0 conserve la réserve de transformation d'une partie des espaces de loisirs en couchages supplémentaires.</a:t>
            </a:r>
            <a:endParaRPr sz="1150"/>
          </a:p>
        </p:txBody>
      </p:sp>
      <p:sp>
        <p:nvSpPr>
          <p:cNvPr id="11" name=""/>
          <p:cNvSpPr txBox="1"/>
          <p:nvPr/>
        </p:nvSpPr>
        <p:spPr>
          <a:xfrm>
            <a:off x="457200" y="466801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sz="850" i="1">
                <a:solidFill>
                  <a:srgbClr val="8E8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variantes du R+1 coexistent au dossier ; la surface totale est stable d'une version à l'autre.</a:t>
            </a:r>
            <a:endParaRPr sz="8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457200" y="31089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000" b="1" spc="200" kern="0">
                <a:solidFill>
                  <a:srgbClr val="8A5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· LE PROGRAMME</a:t>
            </a:r>
            <a:endParaRPr sz="1000"/>
          </a:p>
        </p:txBody>
      </p:sp>
      <p:sp>
        <p:nvSpPr>
          <p:cNvPr id="3" name=""/>
          <p:cNvSpPr txBox="1"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sz="2800">
                <a:solidFill>
                  <a:srgbClr val="1E1A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Quatre suites, pas quatre chambres</a:t>
            </a:r>
            <a:endParaRPr sz="2800"/>
          </a:p>
        </p:txBody>
      </p:sp>
      <p:sp>
        <p:nvSpPr>
          <p:cNvPr id="4" name=""/>
          <p:cNvSpPr txBox="1"/>
          <p:nvPr/>
        </p:nvSpPr>
        <p:spPr>
          <a:xfrm>
            <a:off x="457200" y="120700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300">
                <a:solidFill>
                  <a:srgbClr val="1E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L'objection « quatre chambres seulement, pour 8,4 M€ » compare des unités qui ne le sont pas.</a:t>
            </a:r>
            <a:endParaRPr sz="1300"/>
          </a:p>
        </p:txBody>
      </p:sp>
      <p:sp>
        <p:nvSpPr>
          <p:cNvPr id="5" name="Shape 3"/>
          <p:cNvSpPr/>
          <p:nvPr/>
        </p:nvSpPr>
        <p:spPr>
          <a:xfrm>
            <a:off x="457200" y="1664208"/>
            <a:ext cx="4023360" cy="1417320"/>
          </a:xfrm>
          <a:prstGeom prst="rect">
            <a:avLst/>
          </a:prstGeom>
          <a:solidFill>
            <a:srgbClr val="EFEBE2"/>
          </a:solidFill>
          <a:ln w="12700">
            <a:solidFill>
              <a:srgbClr val="EFEBE2"/>
            </a:solidFill>
            <a:prstDash val="solid"/>
          </a:ln>
        </p:spPr>
      </p:sp>
      <p:sp>
        <p:nvSpPr>
          <p:cNvPr id="6" name=""/>
          <p:cNvSpPr txBox="1"/>
          <p:nvPr/>
        </p:nvSpPr>
        <p:spPr>
          <a:xfrm>
            <a:off x="603504" y="1783080"/>
            <a:ext cx="3730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sz="850" b="1" spc="110" kern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VILLA ROI DE LA CAMARGUE</a:t>
            </a:r>
            <a:endParaRPr sz="850"/>
          </a:p>
        </p:txBody>
      </p:sp>
      <p:sp>
        <p:nvSpPr>
          <p:cNvPr id="7" name=""/>
          <p:cNvSpPr txBox="1"/>
          <p:nvPr/>
        </p:nvSpPr>
        <p:spPr>
          <a:xfrm>
            <a:off x="603504" y="2084832"/>
            <a:ext cx="3730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sz="1900">
                <a:solidFill>
                  <a:srgbClr val="8A5A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suites de 39,85 m²</a:t>
            </a:r>
            <a:endParaRPr sz="1900"/>
          </a:p>
        </p:txBody>
      </p:sp>
      <p:sp>
        <p:nvSpPr>
          <p:cNvPr id="8" name=""/>
          <p:cNvSpPr txBox="1"/>
          <p:nvPr/>
        </p:nvSpPr>
        <p:spPr>
          <a:xfrm>
            <a:off x="603504" y="2414016"/>
            <a:ext cx="37307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sz="90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159,41 m² de surface de couchage.</a:t>
            </a:r>
            <a:endParaRPr sz="900"/>
          </a:p>
          <a:p>
            <a:pPr indent="0" marL="0">
              <a:lnSpc>
                <a:spcPts val="1200"/>
              </a:lnSpc>
              <a:buNone/>
            </a:pPr>
            <a:r>
              <a:rPr sz="90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Dressings aménagés sur mesure dans chacune.</a:t>
            </a:r>
            <a:endParaRPr sz="900"/>
          </a:p>
        </p:txBody>
      </p:sp>
      <p:sp>
        <p:nvSpPr>
          <p:cNvPr id="9" name="Shape 7"/>
          <p:cNvSpPr/>
          <p:nvPr/>
        </p:nvSpPr>
        <p:spPr>
          <a:xfrm>
            <a:off x="4663440" y="1664208"/>
            <a:ext cx="4023360" cy="1417320"/>
          </a:xfrm>
          <a:prstGeom prst="rect">
            <a:avLst/>
          </a:prstGeom>
          <a:solidFill>
            <a:srgbClr val="F4F2ED"/>
          </a:solidFill>
          <a:ln w="12700">
            <a:solidFill>
              <a:srgbClr val="F4F2ED"/>
            </a:solidFill>
            <a:prstDash val="solid"/>
          </a:ln>
        </p:spPr>
      </p:sp>
      <p:sp>
        <p:nvSpPr>
          <p:cNvPr id="10" name=""/>
          <p:cNvSpPr txBox="1"/>
          <p:nvPr/>
        </p:nvSpPr>
        <p:spPr>
          <a:xfrm>
            <a:off x="4809744" y="1783080"/>
            <a:ext cx="3730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sz="850" b="1" spc="110" kern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COMPARABLES DU RELEVÉ</a:t>
            </a:r>
            <a:endParaRPr sz="850"/>
          </a:p>
        </p:txBody>
      </p:sp>
      <p:sp>
        <p:nvSpPr>
          <p:cNvPr id="11" name=""/>
          <p:cNvSpPr txBox="1"/>
          <p:nvPr/>
        </p:nvSpPr>
        <p:spPr>
          <a:xfrm>
            <a:off x="4809744" y="2084832"/>
            <a:ext cx="3730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sz="1500">
                <a:solidFill>
                  <a:srgbClr val="5B53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à 6 chambres de 15 à 20 m²</a:t>
            </a:r>
            <a:endParaRPr sz="1500"/>
          </a:p>
        </p:txBody>
      </p:sp>
      <p:sp>
        <p:nvSpPr>
          <p:cNvPr id="12" name=""/>
          <p:cNvSpPr txBox="1"/>
          <p:nvPr/>
        </p:nvSpPr>
        <p:spPr>
          <a:xfrm>
            <a:off x="4809744" y="2414016"/>
            <a:ext cx="37307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sz="90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à 120 m² de surface de couchage.</a:t>
            </a:r>
            <a:endParaRPr sz="900"/>
          </a:p>
          <a:p>
            <a:pPr indent="0" marL="0">
              <a:lnSpc>
                <a:spcPts val="1200"/>
              </a:lnSpc>
              <a:buNone/>
            </a:pPr>
            <a:r>
              <a:rPr sz="90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de pièces, moins de surface.</a:t>
            </a:r>
            <a:endParaRPr sz="900"/>
          </a:p>
        </p:txBody>
      </p:sp>
      <p:sp>
        <p:nvSpPr>
          <p:cNvPr id="13" name="Shape 11"/>
          <p:cNvSpPr/>
          <p:nvPr/>
        </p:nvSpPr>
        <p:spPr>
          <a:xfrm>
            <a:off x="457200" y="3273552"/>
            <a:ext cx="8229600" cy="896112"/>
          </a:xfrm>
          <a:prstGeom prst="rect">
            <a:avLst/>
          </a:prstGeom>
          <a:solidFill>
            <a:srgbClr val="1C1811"/>
          </a:solidFill>
          <a:ln w="12700">
            <a:solidFill>
              <a:srgbClr val="1C1811"/>
            </a:solidFill>
            <a:prstDash val="solid"/>
          </a:ln>
        </p:spPr>
      </p:sp>
      <p:sp>
        <p:nvSpPr>
          <p:cNvPr id="14" name=""/>
          <p:cNvSpPr txBox="1"/>
          <p:nvPr/>
        </p:nvSpPr>
        <p:spPr>
          <a:xfrm>
            <a:off x="676656" y="3419856"/>
            <a:ext cx="77906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sz="1200">
                <a:solidFill>
                  <a:srgbClr val="EFE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surface de couchage égale, le programme égale les comparables à six chambres — mais en quatre volumes de standard hôtelier au lieu de six pièces standard. Un acquéreur de ce segment n'achète pas des lits, il achète des suites.</a:t>
            </a:r>
            <a:endParaRPr sz="1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457200" y="31089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000" b="1" spc="200" kern="0">
                <a:solidFill>
                  <a:srgbClr val="8A5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· LE PROGRAMME</a:t>
            </a:r>
            <a:endParaRPr sz="1000"/>
          </a:p>
        </p:txBody>
      </p:sp>
      <p:sp>
        <p:nvSpPr>
          <p:cNvPr id="3" name=""/>
          <p:cNvSpPr txBox="1"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sz="2800">
                <a:solidFill>
                  <a:srgbClr val="1E1A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contiennent les 421 m²</a:t>
            </a:r>
            <a:endParaRPr sz="280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688336" cy="1170432"/>
          </a:xfrm>
          <a:prstGeom prst="rect">
            <a:avLst/>
          </a:prstGeom>
          <a:solidFill>
            <a:srgbClr val="EFEBE2"/>
          </a:solidFill>
          <a:ln w="12700">
            <a:solidFill>
              <a:srgbClr val="EFEBE2"/>
            </a:solidFill>
            <a:prstDash val="solid"/>
          </a:ln>
        </p:spPr>
      </p:sp>
      <p:sp>
        <p:nvSpPr>
          <p:cNvPr id="5" name=""/>
          <p:cNvSpPr txBox="1"/>
          <p:nvPr/>
        </p:nvSpPr>
        <p:spPr>
          <a:xfrm>
            <a:off x="621792" y="1417320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sz="1200" b="1">
                <a:solidFill>
                  <a:srgbClr val="1E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Salle de projection · 30,22 m²</a:t>
            </a:r>
            <a:endParaRPr sz="1200"/>
          </a:p>
        </p:txBody>
      </p:sp>
      <p:sp>
        <p:nvSpPr>
          <p:cNvPr id="6" name=""/>
          <p:cNvSpPr txBox="1"/>
          <p:nvPr/>
        </p:nvSpPr>
        <p:spPr>
          <a:xfrm>
            <a:off x="621792" y="1682496"/>
            <a:ext cx="23591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sz="105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Epson Pro Cinema, Bowers &amp; Wilkins, fauteuils cuir, acoustique Vicoustic et Ecophon.</a:t>
            </a:r>
            <a:endParaRPr sz="1050"/>
          </a:p>
        </p:txBody>
      </p:sp>
      <p:sp>
        <p:nvSpPr>
          <p:cNvPr id="7" name="Shape 5"/>
          <p:cNvSpPr/>
          <p:nvPr/>
        </p:nvSpPr>
        <p:spPr>
          <a:xfrm>
            <a:off x="3319272" y="1280160"/>
            <a:ext cx="2688336" cy="1170432"/>
          </a:xfrm>
          <a:prstGeom prst="rect">
            <a:avLst/>
          </a:prstGeom>
          <a:solidFill>
            <a:srgbClr val="EFEBE2"/>
          </a:solidFill>
          <a:ln w="12700">
            <a:solidFill>
              <a:srgbClr val="EFEBE2"/>
            </a:solidFill>
            <a:prstDash val="solid"/>
          </a:ln>
        </p:spPr>
      </p:sp>
      <p:sp>
        <p:nvSpPr>
          <p:cNvPr id="8" name=""/>
          <p:cNvSpPr txBox="1"/>
          <p:nvPr/>
        </p:nvSpPr>
        <p:spPr>
          <a:xfrm>
            <a:off x="3483864" y="1417320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sz="1200" b="1">
                <a:solidFill>
                  <a:srgbClr val="1E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Salle de sport · 36,52 m²</a:t>
            </a:r>
            <a:endParaRPr sz="1200"/>
          </a:p>
        </p:txBody>
      </p:sp>
      <p:sp>
        <p:nvSpPr>
          <p:cNvPr id="9" name=""/>
          <p:cNvSpPr txBox="1"/>
          <p:nvPr/>
        </p:nvSpPr>
        <p:spPr>
          <a:xfrm>
            <a:off x="3483864" y="1682496"/>
            <a:ext cx="23591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sz="105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Technogym Kinesis, Powertec, ATX Warrior, cardio Precor. Sanitaires dédiés.</a:t>
            </a:r>
            <a:endParaRPr sz="1050"/>
          </a:p>
        </p:txBody>
      </p:sp>
      <p:sp>
        <p:nvSpPr>
          <p:cNvPr id="10" name="Shape 8"/>
          <p:cNvSpPr/>
          <p:nvPr/>
        </p:nvSpPr>
        <p:spPr>
          <a:xfrm>
            <a:off x="6181344" y="1280160"/>
            <a:ext cx="2688336" cy="1170432"/>
          </a:xfrm>
          <a:prstGeom prst="rect">
            <a:avLst/>
          </a:prstGeom>
          <a:solidFill>
            <a:srgbClr val="EFEBE2"/>
          </a:solidFill>
          <a:ln w="12700">
            <a:solidFill>
              <a:srgbClr val="EFEBE2"/>
            </a:solidFill>
            <a:prstDash val="solid"/>
          </a:ln>
        </p:spPr>
      </p:sp>
      <p:sp>
        <p:nvSpPr>
          <p:cNvPr id="11" name=""/>
          <p:cNvSpPr txBox="1"/>
          <p:nvPr/>
        </p:nvSpPr>
        <p:spPr>
          <a:xfrm>
            <a:off x="6345936" y="1417320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sz="1200" b="1">
                <a:solidFill>
                  <a:srgbClr val="1E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Sauna et jacuzzi · 8,59 m²</a:t>
            </a:r>
            <a:endParaRPr sz="1200"/>
          </a:p>
        </p:txBody>
      </p:sp>
      <p:sp>
        <p:nvSpPr>
          <p:cNvPr id="12" name=""/>
          <p:cNvSpPr txBox="1"/>
          <p:nvPr/>
        </p:nvSpPr>
        <p:spPr>
          <a:xfrm>
            <a:off x="6345936" y="1682496"/>
            <a:ext cx="23591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sz="105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Cabine cèdre rouge sur mesure, poêle Harvia. Jacuzzi extérieur Balboa, habillage travertin.</a:t>
            </a:r>
            <a:endParaRPr sz="1050"/>
          </a:p>
        </p:txBody>
      </p:sp>
      <p:sp>
        <p:nvSpPr>
          <p:cNvPr id="13" name="Shape 11"/>
          <p:cNvSpPr/>
          <p:nvPr/>
        </p:nvSpPr>
        <p:spPr>
          <a:xfrm>
            <a:off x="457200" y="2624328"/>
            <a:ext cx="2688336" cy="1170432"/>
          </a:xfrm>
          <a:prstGeom prst="rect">
            <a:avLst/>
          </a:prstGeom>
          <a:solidFill>
            <a:srgbClr val="EFEBE2"/>
          </a:solidFill>
          <a:ln w="12700">
            <a:solidFill>
              <a:srgbClr val="EFEBE2"/>
            </a:solidFill>
            <a:prstDash val="solid"/>
          </a:ln>
        </p:spPr>
      </p:sp>
      <p:sp>
        <p:nvSpPr>
          <p:cNvPr id="14" name=""/>
          <p:cNvSpPr txBox="1"/>
          <p:nvPr/>
        </p:nvSpPr>
        <p:spPr>
          <a:xfrm>
            <a:off x="621792" y="2761488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sz="1200" b="1">
                <a:solidFill>
                  <a:srgbClr val="1E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Logistique de réception</a:t>
            </a:r>
            <a:endParaRPr sz="1200"/>
          </a:p>
        </p:txBody>
      </p:sp>
      <p:sp>
        <p:nvSpPr>
          <p:cNvPr id="15" name=""/>
          <p:cNvSpPr txBox="1"/>
          <p:nvPr/>
        </p:nvSpPr>
        <p:spPr>
          <a:xfrm>
            <a:off x="621792" y="3026664"/>
            <a:ext cx="23591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sz="105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Lingerie 24,14 m² Miele Professional, chambre froide professionnelle 10,38 m², cave à vin Liebherr.</a:t>
            </a:r>
            <a:endParaRPr sz="1050"/>
          </a:p>
        </p:txBody>
      </p:sp>
      <p:sp>
        <p:nvSpPr>
          <p:cNvPr id="16" name="Shape 14"/>
          <p:cNvSpPr/>
          <p:nvPr/>
        </p:nvSpPr>
        <p:spPr>
          <a:xfrm>
            <a:off x="3319272" y="2624328"/>
            <a:ext cx="2688336" cy="1170432"/>
          </a:xfrm>
          <a:prstGeom prst="rect">
            <a:avLst/>
          </a:prstGeom>
          <a:solidFill>
            <a:srgbClr val="EFEBE2"/>
          </a:solidFill>
          <a:ln w="12700">
            <a:solidFill>
              <a:srgbClr val="EFEBE2"/>
            </a:solidFill>
            <a:prstDash val="solid"/>
          </a:ln>
        </p:spPr>
      </p:sp>
      <p:sp>
        <p:nvSpPr>
          <p:cNvPr id="17" name=""/>
          <p:cNvSpPr txBox="1"/>
          <p:nvPr/>
        </p:nvSpPr>
        <p:spPr>
          <a:xfrm>
            <a:off x="3483864" y="2761488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sz="1200" b="1">
                <a:solidFill>
                  <a:srgbClr val="1E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œuvre</a:t>
            </a:r>
            <a:endParaRPr sz="1200"/>
          </a:p>
        </p:txBody>
      </p:sp>
      <p:sp>
        <p:nvSpPr>
          <p:cNvPr id="18" name=""/>
          <p:cNvSpPr txBox="1"/>
          <p:nvPr/>
        </p:nvSpPr>
        <p:spPr>
          <a:xfrm>
            <a:off x="3483864" y="3026664"/>
            <a:ext cx="23591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sz="105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Travertin premium grand format, menuiseries Technal, VMC double flux, PAC gainable Daikin.</a:t>
            </a:r>
            <a:endParaRPr sz="1050"/>
          </a:p>
        </p:txBody>
      </p:sp>
      <p:sp>
        <p:nvSpPr>
          <p:cNvPr id="19" name="Shape 17"/>
          <p:cNvSpPr/>
          <p:nvPr/>
        </p:nvSpPr>
        <p:spPr>
          <a:xfrm>
            <a:off x="6181344" y="2624328"/>
            <a:ext cx="2688336" cy="1170432"/>
          </a:xfrm>
          <a:prstGeom prst="rect">
            <a:avLst/>
          </a:prstGeom>
          <a:solidFill>
            <a:srgbClr val="EFEBE2"/>
          </a:solidFill>
          <a:ln w="12700">
            <a:solidFill>
              <a:srgbClr val="EFEBE2"/>
            </a:solidFill>
            <a:prstDash val="solid"/>
          </a:ln>
        </p:spPr>
      </p:sp>
      <p:sp>
        <p:nvSpPr>
          <p:cNvPr id="20" name=""/>
          <p:cNvSpPr txBox="1"/>
          <p:nvPr/>
        </p:nvSpPr>
        <p:spPr>
          <a:xfrm>
            <a:off x="6345936" y="2761488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sz="1200" b="1">
                <a:solidFill>
                  <a:srgbClr val="1E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Domotique et sûreté</a:t>
            </a:r>
            <a:endParaRPr sz="1200"/>
          </a:p>
        </p:txBody>
      </p:sp>
      <p:sp>
        <p:nvSpPr>
          <p:cNvPr id="21" name=""/>
          <p:cNvSpPr txBox="1"/>
          <p:nvPr/>
        </p:nvSpPr>
        <p:spPr>
          <a:xfrm>
            <a:off x="6345936" y="3026664"/>
            <a:ext cx="23591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sz="105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NIKO connecté, vidéosurveillance, visiophone à reconnaissance faciale, éclairage architectural.</a:t>
            </a:r>
            <a:endParaRPr sz="1050"/>
          </a:p>
        </p:txBody>
      </p:sp>
      <p:sp>
        <p:nvSpPr>
          <p:cNvPr id="22" name=""/>
          <p:cNvSpPr txBox="1"/>
          <p:nvPr/>
        </p:nvSpPr>
        <p:spPr>
          <a:xfrm>
            <a:off x="457200" y="3968496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150">
                <a:solidFill>
                  <a:srgbClr val="1E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Villa livrée meublée et décorée — sélection La Crémerie : Bonaldo, La Chance, De Padova, Red Edition, Luceplan, Talenti.</a:t>
            </a:r>
            <a:endParaRPr sz="115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18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457200" y="1371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050" b="1" spc="240" kern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 · LA DÉMONSTRATION</a:t>
            </a:r>
            <a:endParaRPr sz="1050"/>
          </a:p>
        </p:txBody>
      </p:sp>
      <p:sp>
        <p:nvSpPr>
          <p:cNvPr id="3" name=""/>
          <p:cNvSpPr txBox="1"/>
          <p:nvPr/>
        </p:nvSpPr>
        <p:spPr>
          <a:xfrm>
            <a:off x="457200" y="16916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sz="380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20 000 €/m², est-ce défendable ?</a:t>
            </a:r>
            <a:endParaRPr sz="3800"/>
          </a:p>
        </p:txBody>
      </p:sp>
      <p:sp>
        <p:nvSpPr>
          <p:cNvPr id="4" name=""/>
          <p:cNvSpPr txBox="1"/>
          <p:nvPr/>
        </p:nvSpPr>
        <p:spPr>
          <a:xfrm>
            <a:off x="457200" y="2788920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sz="1400">
                <a:solidFill>
                  <a:srgbClr val="B9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moyenne communale de Sainte-Maxime est de 6 100 €/m². Trois méthodes indépendantes vont montrer que ce n'est pas le bon terme de comparaison.</a:t>
            </a:r>
            <a:endParaRPr sz="1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457200" y="31089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000" b="1" spc="200" kern="0">
                <a:solidFill>
                  <a:srgbClr val="8A5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 · LA DÉMONSTRATION</a:t>
            </a:r>
            <a:endParaRPr sz="1000"/>
          </a:p>
        </p:txBody>
      </p:sp>
      <p:sp>
        <p:nvSpPr>
          <p:cNvPr id="3" name=""/>
          <p:cNvSpPr txBox="1"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sz="2800">
                <a:solidFill>
                  <a:srgbClr val="1E1A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ratio dépend de la convention retenue</a:t>
            </a:r>
            <a:endParaRPr sz="2800"/>
          </a:p>
        </p:txBody>
      </p:sp>
      <p:sp>
        <p:nvSpPr>
          <p:cNvPr id="4" name=""/>
          <p:cNvSpPr txBox="1"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sz="1200">
                <a:solidFill>
                  <a:srgbClr val="1E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20 000 €/m² est un chiffre de convention, pas une donnée physique. Le même prix rapporté à une autre base — toutes usuelles en expertise — produit des ratios très différents.</a:t>
            </a:r>
            <a:endParaRPr sz="1200"/>
          </a:p>
        </p:txBody>
      </p:sp>
      <p:sp>
        <p:nvSpPr>
          <p:cNvPr id="5" name="Shape 3"/>
          <p:cNvSpPr/>
          <p:nvPr/>
        </p:nvSpPr>
        <p:spPr>
          <a:xfrm>
            <a:off x="457200" y="1755648"/>
            <a:ext cx="8229600" cy="237744"/>
          </a:xfrm>
          <a:prstGeom prst="rect">
            <a:avLst/>
          </a:prstGeom>
          <a:solidFill>
            <a:srgbClr val="EFEBE2"/>
          </a:solidFill>
          <a:ln w="12700">
            <a:solidFill>
              <a:srgbClr val="EFEBE2"/>
            </a:solidFill>
            <a:prstDash val="solid"/>
          </a:ln>
        </p:spPr>
      </p:sp>
      <p:sp>
        <p:nvSpPr>
          <p:cNvPr id="6" name=""/>
          <p:cNvSpPr txBox="1"/>
          <p:nvPr/>
        </p:nvSpPr>
        <p:spPr>
          <a:xfrm>
            <a:off x="539496" y="1783080"/>
            <a:ext cx="4773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sz="850" b="1" spc="90" kern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CALCUL</a:t>
            </a:r>
            <a:endParaRPr sz="850"/>
          </a:p>
        </p:txBody>
      </p:sp>
      <p:sp>
        <p:nvSpPr>
          <p:cNvPr id="7" name=""/>
          <p:cNvSpPr txBox="1"/>
          <p:nvPr/>
        </p:nvSpPr>
        <p:spPr>
          <a:xfrm>
            <a:off x="5477256" y="1783080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sz="850" b="1" spc="90" kern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</a:t>
            </a:r>
            <a:endParaRPr sz="850"/>
          </a:p>
        </p:txBody>
      </p:sp>
      <p:sp>
        <p:nvSpPr>
          <p:cNvPr id="8" name=""/>
          <p:cNvSpPr txBox="1"/>
          <p:nvPr/>
        </p:nvSpPr>
        <p:spPr>
          <a:xfrm>
            <a:off x="7123176" y="1783080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sz="850" b="1" spc="90" kern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</a:t>
            </a:r>
            <a:endParaRPr sz="850"/>
          </a:p>
        </p:txBody>
      </p:sp>
      <p:sp>
        <p:nvSpPr>
          <p:cNvPr id="9" name="Shape 7"/>
          <p:cNvSpPr/>
          <p:nvPr/>
        </p:nvSpPr>
        <p:spPr>
          <a:xfrm>
            <a:off x="457200" y="1993392"/>
            <a:ext cx="8229600" cy="274320"/>
          </a:xfrm>
          <a:prstGeom prst="rect">
            <a:avLst/>
          </a:prstGeom>
          <a:solidFill>
            <a:srgbClr val="F6EFE0"/>
          </a:solidFill>
          <a:ln w="12700">
            <a:solidFill>
              <a:srgbClr val="F6EF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267712"/>
            <a:ext cx="8229600" cy="0"/>
          </a:xfrm>
          <a:prstGeom prst="line">
            <a:avLst/>
          </a:prstGeom>
          <a:noFill/>
          <a:ln w="6350">
            <a:solidFill>
              <a:srgbClr val="E2DCCF"/>
            </a:solidFill>
            <a:prstDash val="solid"/>
          </a:ln>
        </p:spPr>
      </p:sp>
      <p:sp>
        <p:nvSpPr>
          <p:cNvPr id="11" name=""/>
          <p:cNvSpPr txBox="1"/>
          <p:nvPr/>
        </p:nvSpPr>
        <p:spPr>
          <a:xfrm>
            <a:off x="539496" y="2034540"/>
            <a:ext cx="4773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sz="1000" b="1">
                <a:solidFill>
                  <a:srgbClr val="1E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intérieure — base retenue</a:t>
            </a:r>
            <a:endParaRPr sz="1000"/>
          </a:p>
        </p:txBody>
      </p:sp>
      <p:sp>
        <p:nvSpPr>
          <p:cNvPr id="12" name=""/>
          <p:cNvSpPr txBox="1"/>
          <p:nvPr/>
        </p:nvSpPr>
        <p:spPr>
          <a:xfrm>
            <a:off x="5477256" y="2034540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sz="1000" b="1">
                <a:solidFill>
                  <a:srgbClr val="1E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421,82 m²</a:t>
            </a:r>
            <a:endParaRPr sz="1000"/>
          </a:p>
        </p:txBody>
      </p:sp>
      <p:sp>
        <p:nvSpPr>
          <p:cNvPr id="13" name=""/>
          <p:cNvSpPr txBox="1"/>
          <p:nvPr/>
        </p:nvSpPr>
        <p:spPr>
          <a:xfrm>
            <a:off x="7123176" y="2034540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sz="1000" b="1">
                <a:solidFill>
                  <a:srgbClr val="1E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20 000 €/m²</a:t>
            </a:r>
            <a:endParaRPr sz="1000"/>
          </a:p>
        </p:txBody>
      </p:sp>
      <p:sp>
        <p:nvSpPr>
          <p:cNvPr id="14" name="Shape 12"/>
          <p:cNvSpPr/>
          <p:nvPr/>
        </p:nvSpPr>
        <p:spPr>
          <a:xfrm>
            <a:off x="457200" y="2542032"/>
            <a:ext cx="8229600" cy="0"/>
          </a:xfrm>
          <a:prstGeom prst="line">
            <a:avLst/>
          </a:prstGeom>
          <a:noFill/>
          <a:ln w="6350">
            <a:solidFill>
              <a:srgbClr val="E2DCCF"/>
            </a:solidFill>
            <a:prstDash val="solid"/>
          </a:ln>
        </p:spPr>
      </p:sp>
      <p:sp>
        <p:nvSpPr>
          <p:cNvPr id="15" name=""/>
          <p:cNvSpPr txBox="1"/>
          <p:nvPr/>
        </p:nvSpPr>
        <p:spPr>
          <a:xfrm>
            <a:off x="539496" y="2308860"/>
            <a:ext cx="4773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sz="1000">
                <a:solidFill>
                  <a:srgbClr val="3D3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intérieure + terrasses pondérées à 40 %</a:t>
            </a:r>
            <a:endParaRPr sz="1000"/>
          </a:p>
        </p:txBody>
      </p:sp>
      <p:sp>
        <p:nvSpPr>
          <p:cNvPr id="16" name=""/>
          <p:cNvSpPr txBox="1"/>
          <p:nvPr/>
        </p:nvSpPr>
        <p:spPr>
          <a:xfrm>
            <a:off x="5477256" y="2308860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sz="1000">
                <a:solidFill>
                  <a:srgbClr val="3D3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482,51 m²</a:t>
            </a:r>
            <a:endParaRPr sz="1000"/>
          </a:p>
        </p:txBody>
      </p:sp>
      <p:sp>
        <p:nvSpPr>
          <p:cNvPr id="17" name=""/>
          <p:cNvSpPr txBox="1"/>
          <p:nvPr/>
        </p:nvSpPr>
        <p:spPr>
          <a:xfrm>
            <a:off x="7123176" y="2308860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sz="1000">
                <a:solidFill>
                  <a:srgbClr val="3D3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17 484 €/m²</a:t>
            </a:r>
            <a:endParaRPr sz="1000"/>
          </a:p>
        </p:txBody>
      </p:sp>
      <p:sp>
        <p:nvSpPr>
          <p:cNvPr id="18" name="Shape 16"/>
          <p:cNvSpPr/>
          <p:nvPr/>
        </p:nvSpPr>
        <p:spPr>
          <a:xfrm>
            <a:off x="457200" y="2816352"/>
            <a:ext cx="8229600" cy="0"/>
          </a:xfrm>
          <a:prstGeom prst="line">
            <a:avLst/>
          </a:prstGeom>
          <a:noFill/>
          <a:ln w="6350">
            <a:solidFill>
              <a:srgbClr val="E2DCCF"/>
            </a:solidFill>
            <a:prstDash val="solid"/>
          </a:ln>
        </p:spPr>
      </p:sp>
      <p:sp>
        <p:nvSpPr>
          <p:cNvPr id="19" name=""/>
          <p:cNvSpPr txBox="1"/>
          <p:nvPr/>
        </p:nvSpPr>
        <p:spPr>
          <a:xfrm>
            <a:off x="539496" y="2583180"/>
            <a:ext cx="4773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sz="1000">
                <a:solidFill>
                  <a:srgbClr val="3D3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de plancher, garage et local technique inclus</a:t>
            </a:r>
            <a:endParaRPr sz="1000"/>
          </a:p>
        </p:txBody>
      </p:sp>
      <p:sp>
        <p:nvSpPr>
          <p:cNvPr id="20" name=""/>
          <p:cNvSpPr txBox="1"/>
          <p:nvPr/>
        </p:nvSpPr>
        <p:spPr>
          <a:xfrm>
            <a:off x="5477256" y="2583180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sz="1000">
                <a:solidFill>
                  <a:srgbClr val="3D3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502,49 m²</a:t>
            </a:r>
            <a:endParaRPr sz="1000"/>
          </a:p>
        </p:txBody>
      </p:sp>
      <p:sp>
        <p:nvSpPr>
          <p:cNvPr id="21" name=""/>
          <p:cNvSpPr txBox="1"/>
          <p:nvPr/>
        </p:nvSpPr>
        <p:spPr>
          <a:xfrm>
            <a:off x="7123176" y="2583180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sz="1000">
                <a:solidFill>
                  <a:srgbClr val="3D3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16 789 €/m²</a:t>
            </a:r>
            <a:endParaRPr sz="1000"/>
          </a:p>
        </p:txBody>
      </p:sp>
      <p:sp>
        <p:nvSpPr>
          <p:cNvPr id="22" name="Shape 20"/>
          <p:cNvSpPr/>
          <p:nvPr/>
        </p:nvSpPr>
        <p:spPr>
          <a:xfrm>
            <a:off x="457200" y="3090672"/>
            <a:ext cx="8229600" cy="0"/>
          </a:xfrm>
          <a:prstGeom prst="line">
            <a:avLst/>
          </a:prstGeom>
          <a:noFill/>
          <a:ln w="6350">
            <a:solidFill>
              <a:srgbClr val="E2DCCF"/>
            </a:solidFill>
            <a:prstDash val="solid"/>
          </a:ln>
        </p:spPr>
      </p:sp>
      <p:sp>
        <p:nvSpPr>
          <p:cNvPr id="23" name=""/>
          <p:cNvSpPr txBox="1"/>
          <p:nvPr/>
        </p:nvSpPr>
        <p:spPr>
          <a:xfrm>
            <a:off x="539496" y="2857500"/>
            <a:ext cx="4773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sz="1000">
                <a:solidFill>
                  <a:srgbClr val="3D3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bâtie totale + terrasses</a:t>
            </a:r>
            <a:endParaRPr sz="1000"/>
          </a:p>
        </p:txBody>
      </p:sp>
      <p:sp>
        <p:nvSpPr>
          <p:cNvPr id="24" name=""/>
          <p:cNvSpPr txBox="1"/>
          <p:nvPr/>
        </p:nvSpPr>
        <p:spPr>
          <a:xfrm>
            <a:off x="5477256" y="2857500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sz="1000">
                <a:solidFill>
                  <a:srgbClr val="3D3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654,22 m²</a:t>
            </a:r>
            <a:endParaRPr sz="1000"/>
          </a:p>
        </p:txBody>
      </p:sp>
      <p:sp>
        <p:nvSpPr>
          <p:cNvPr id="25" name=""/>
          <p:cNvSpPr txBox="1"/>
          <p:nvPr/>
        </p:nvSpPr>
        <p:spPr>
          <a:xfrm>
            <a:off x="7123176" y="2857500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sz="1000">
                <a:solidFill>
                  <a:srgbClr val="3D3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12 895 €/m²</a:t>
            </a:r>
            <a:endParaRPr sz="1000"/>
          </a:p>
        </p:txBody>
      </p:sp>
      <p:sp>
        <p:nvSpPr>
          <p:cNvPr id="26" name="Shape 24"/>
          <p:cNvSpPr/>
          <p:nvPr/>
        </p:nvSpPr>
        <p:spPr>
          <a:xfrm>
            <a:off x="457200" y="3584448"/>
            <a:ext cx="8229600" cy="841248"/>
          </a:xfrm>
          <a:prstGeom prst="rect">
            <a:avLst/>
          </a:prstGeom>
          <a:solidFill>
            <a:srgbClr val="1C1811"/>
          </a:solidFill>
          <a:ln w="12700">
            <a:solidFill>
              <a:srgbClr val="1C1811"/>
            </a:solidFill>
            <a:prstDash val="solid"/>
          </a:ln>
        </p:spPr>
      </p:sp>
      <p:sp>
        <p:nvSpPr>
          <p:cNvPr id="27" name=""/>
          <p:cNvSpPr txBox="1"/>
          <p:nvPr/>
        </p:nvSpPr>
        <p:spPr>
          <a:xfrm>
            <a:off x="676656" y="3712464"/>
            <a:ext cx="77906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sz="1150">
                <a:solidFill>
                  <a:srgbClr val="EFE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Nous retenons volontairement la base la plus défavorable. Sur la surface de plancher, convention usuelle en évaluation de villa neuve, le ratio ressort à 16 789 €/m² — sous la moyenne du segment contemporain de Sainte-Maxime.</a:t>
            </a:r>
            <a:endParaRPr sz="115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457200" y="31089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000" b="1" spc="200" kern="0">
                <a:solidFill>
                  <a:srgbClr val="8A5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 · LA DÉMONSTRATION</a:t>
            </a:r>
            <a:endParaRPr sz="1000"/>
          </a:p>
        </p:txBody>
      </p:sp>
      <p:sp>
        <p:nvSpPr>
          <p:cNvPr id="3" name=""/>
          <p:cNvSpPr txBox="1"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sz="2800">
                <a:solidFill>
                  <a:srgbClr val="1E1A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Trois méthodes, une valeur</a:t>
            </a:r>
            <a:endParaRPr sz="280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2688336" cy="2286000"/>
          </a:xfrm>
          <a:prstGeom prst="rect">
            <a:avLst/>
          </a:prstGeom>
          <a:solidFill>
            <a:srgbClr val="EFEBE2"/>
          </a:solidFill>
          <a:ln w="12700">
            <a:solidFill>
              <a:srgbClr val="EFEBE2"/>
            </a:solidFill>
            <a:prstDash val="solid"/>
          </a:ln>
        </p:spPr>
      </p:sp>
      <p:sp>
        <p:nvSpPr>
          <p:cNvPr id="5" name=""/>
          <p:cNvSpPr txBox="1"/>
          <p:nvPr/>
        </p:nvSpPr>
        <p:spPr>
          <a:xfrm>
            <a:off x="621792" y="13716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3400">
                <a:solidFill>
                  <a:srgbClr val="D6CD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sz="3400"/>
          </a:p>
        </p:txBody>
      </p:sp>
      <p:sp>
        <p:nvSpPr>
          <p:cNvPr id="6" name=""/>
          <p:cNvSpPr txBox="1"/>
          <p:nvPr/>
        </p:nvSpPr>
        <p:spPr>
          <a:xfrm>
            <a:off x="621792" y="1938528"/>
            <a:ext cx="2359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150" b="1">
                <a:solidFill>
                  <a:srgbClr val="1E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de reconstitution</a:t>
            </a:r>
            <a:endParaRPr sz="1150"/>
          </a:p>
        </p:txBody>
      </p:sp>
      <p:sp>
        <p:nvSpPr>
          <p:cNvPr id="7" name=""/>
          <p:cNvSpPr txBox="1"/>
          <p:nvPr/>
        </p:nvSpPr>
        <p:spPr>
          <a:xfrm>
            <a:off x="621792" y="2286000"/>
            <a:ext cx="23591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2200">
                <a:solidFill>
                  <a:srgbClr val="8A5A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1 185 €/m²</a:t>
            </a:r>
            <a:endParaRPr sz="2200"/>
          </a:p>
        </p:txBody>
      </p:sp>
      <p:sp>
        <p:nvSpPr>
          <p:cNvPr id="8" name=""/>
          <p:cNvSpPr txBox="1"/>
          <p:nvPr/>
        </p:nvSpPr>
        <p:spPr>
          <a:xfrm>
            <a:off x="621792" y="2743200"/>
            <a:ext cx="235915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sz="100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prix n'implique qu'une valeur foncière de 1 185 €/m² de terrain — prudente pour une parcelle vue mer de 2 033 m².</a:t>
            </a:r>
            <a:endParaRPr sz="1000"/>
          </a:p>
        </p:txBody>
      </p:sp>
      <p:sp>
        <p:nvSpPr>
          <p:cNvPr id="9" name="Shape 7"/>
          <p:cNvSpPr/>
          <p:nvPr/>
        </p:nvSpPr>
        <p:spPr>
          <a:xfrm>
            <a:off x="3319272" y="1298448"/>
            <a:ext cx="2688336" cy="2286000"/>
          </a:xfrm>
          <a:prstGeom prst="rect">
            <a:avLst/>
          </a:prstGeom>
          <a:solidFill>
            <a:srgbClr val="EFEBE2"/>
          </a:solidFill>
          <a:ln w="12700">
            <a:solidFill>
              <a:srgbClr val="EFEBE2"/>
            </a:solidFill>
            <a:prstDash val="solid"/>
          </a:ln>
        </p:spPr>
      </p:sp>
      <p:sp>
        <p:nvSpPr>
          <p:cNvPr id="10" name=""/>
          <p:cNvSpPr txBox="1"/>
          <p:nvPr/>
        </p:nvSpPr>
        <p:spPr>
          <a:xfrm>
            <a:off x="3483864" y="13716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3400">
                <a:solidFill>
                  <a:srgbClr val="D6CD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sz="3400"/>
          </a:p>
        </p:txBody>
      </p:sp>
      <p:sp>
        <p:nvSpPr>
          <p:cNvPr id="11" name=""/>
          <p:cNvSpPr txBox="1"/>
          <p:nvPr/>
        </p:nvSpPr>
        <p:spPr>
          <a:xfrm>
            <a:off x="3483864" y="1938528"/>
            <a:ext cx="2359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150" b="1">
                <a:solidFill>
                  <a:srgbClr val="1E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Comparables d'offre actuels</a:t>
            </a:r>
            <a:endParaRPr sz="1150"/>
          </a:p>
        </p:txBody>
      </p:sp>
      <p:sp>
        <p:nvSpPr>
          <p:cNvPr id="12" name=""/>
          <p:cNvSpPr txBox="1"/>
          <p:nvPr/>
        </p:nvSpPr>
        <p:spPr>
          <a:xfrm>
            <a:off x="3483864" y="2286000"/>
            <a:ext cx="23591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2200">
                <a:solidFill>
                  <a:srgbClr val="8A5A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19 854 €/m²</a:t>
            </a:r>
            <a:endParaRPr sz="2200"/>
          </a:p>
        </p:txBody>
      </p:sp>
      <p:sp>
        <p:nvSpPr>
          <p:cNvPr id="13" name=""/>
          <p:cNvSpPr txBox="1"/>
          <p:nvPr/>
        </p:nvSpPr>
        <p:spPr>
          <a:xfrm>
            <a:off x="3483864" y="2743200"/>
            <a:ext cx="235915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sz="100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Moyenne du segment neuf et contemporain en vente à Sainte-Maxime. Le prix visé s'en écarte de 0,7 %.</a:t>
            </a:r>
            <a:endParaRPr sz="1000"/>
          </a:p>
        </p:txBody>
      </p:sp>
      <p:sp>
        <p:nvSpPr>
          <p:cNvPr id="14" name="Shape 12"/>
          <p:cNvSpPr/>
          <p:nvPr/>
        </p:nvSpPr>
        <p:spPr>
          <a:xfrm>
            <a:off x="6181344" y="1298448"/>
            <a:ext cx="2688336" cy="2286000"/>
          </a:xfrm>
          <a:prstGeom prst="rect">
            <a:avLst/>
          </a:prstGeom>
          <a:solidFill>
            <a:srgbClr val="EFEBE2"/>
          </a:solidFill>
          <a:ln w="12700">
            <a:solidFill>
              <a:srgbClr val="EFEBE2"/>
            </a:solidFill>
            <a:prstDash val="solid"/>
          </a:ln>
        </p:spPr>
      </p:sp>
      <p:sp>
        <p:nvSpPr>
          <p:cNvPr id="15" name=""/>
          <p:cNvSpPr txBox="1"/>
          <p:nvPr/>
        </p:nvSpPr>
        <p:spPr>
          <a:xfrm>
            <a:off x="6345936" y="13716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3400">
                <a:solidFill>
                  <a:srgbClr val="D6CD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sz="3400"/>
          </a:p>
        </p:txBody>
      </p:sp>
      <p:sp>
        <p:nvSpPr>
          <p:cNvPr id="16" name=""/>
          <p:cNvSpPr txBox="1"/>
          <p:nvPr/>
        </p:nvSpPr>
        <p:spPr>
          <a:xfrm>
            <a:off x="6345936" y="1938528"/>
            <a:ext cx="2359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150" b="1">
                <a:solidFill>
                  <a:srgbClr val="1E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 du neuf mesurée</a:t>
            </a:r>
            <a:endParaRPr sz="1150"/>
          </a:p>
        </p:txBody>
      </p:sp>
      <p:sp>
        <p:nvSpPr>
          <p:cNvPr id="17" name=""/>
          <p:cNvSpPr txBox="1"/>
          <p:nvPr/>
        </p:nvSpPr>
        <p:spPr>
          <a:xfrm>
            <a:off x="6345936" y="2286000"/>
            <a:ext cx="23591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2200">
                <a:solidFill>
                  <a:srgbClr val="8A5A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+ 22,6 %</a:t>
            </a:r>
            <a:endParaRPr sz="2200"/>
          </a:p>
        </p:txBody>
      </p:sp>
      <p:sp>
        <p:nvSpPr>
          <p:cNvPr id="18" name=""/>
          <p:cNvSpPr txBox="1"/>
          <p:nvPr/>
        </p:nvSpPr>
        <p:spPr>
          <a:xfrm>
            <a:off x="6345936" y="2743200"/>
            <a:ext cx="235915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sz="100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Écart constaté entre le segment neuf-contemporain et le segment ancien-rénové sur le même marché.</a:t>
            </a:r>
            <a:endParaRPr sz="1000"/>
          </a:p>
        </p:txBody>
      </p:sp>
      <p:sp>
        <p:nvSpPr>
          <p:cNvPr id="19" name=""/>
          <p:cNvSpPr txBox="1"/>
          <p:nvPr/>
        </p:nvSpPr>
        <p:spPr>
          <a:xfrm>
            <a:off x="457200" y="3785616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sz="1200">
                <a:solidFill>
                  <a:srgbClr val="1E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 trois méthodes n'ont aucune donnée en commun : l'une part des coûts, l'autre du marché de l'offre, la troisième d'un différentiel de segment. Leur convergence est l'argument central du dossier.</a:t>
            </a:r>
            <a:endParaRPr sz="12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457200" y="31089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000" b="1" spc="200" kern="0">
                <a:solidFill>
                  <a:srgbClr val="8A5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 · MÉTHODE 1 — BILAN DE RECONSTITUTION</a:t>
            </a:r>
            <a:endParaRPr sz="1000"/>
          </a:p>
        </p:txBody>
      </p:sp>
      <p:sp>
        <p:nvSpPr>
          <p:cNvPr id="3" name=""/>
          <p:cNvSpPr txBox="1"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sz="2800">
                <a:solidFill>
                  <a:srgbClr val="1E1A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le prix contient réellement</a:t>
            </a:r>
            <a:endParaRPr sz="2800"/>
          </a:p>
        </p:txBody>
      </p:sp>
      <p:sp>
        <p:nvSpPr>
          <p:cNvPr id="4" name=""/>
          <p:cNvSpPr txBox="1"/>
          <p:nvPr/>
        </p:nvSpPr>
        <p:spPr>
          <a:xfrm>
            <a:off x="457200" y="120700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05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 au m² de surface intérieure</a:t>
            </a:r>
            <a:endParaRPr sz="1050"/>
          </a:p>
        </p:txBody>
      </p:sp>
      <p:sp>
        <p:nvSpPr>
          <p:cNvPr id="5" name=""/>
          <p:cNvSpPr txBox="1"/>
          <p:nvPr/>
        </p:nvSpPr>
        <p:spPr>
          <a:xfrm>
            <a:off x="5943600" y="11887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sz="1200" b="1">
                <a:solidFill>
                  <a:srgbClr val="1E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20 000 €/m²</a:t>
            </a:r>
            <a:endParaRPr sz="1200"/>
          </a:p>
        </p:txBody>
      </p:sp>
      <p:sp>
        <p:nvSpPr>
          <p:cNvPr id="6" name="Shape 4"/>
          <p:cNvSpPr/>
          <p:nvPr/>
        </p:nvSpPr>
        <p:spPr>
          <a:xfrm>
            <a:off x="457200" y="1517904"/>
            <a:ext cx="4617766" cy="566928"/>
          </a:xfrm>
          <a:prstGeom prst="rect">
            <a:avLst/>
          </a:prstGeom>
          <a:solidFill>
            <a:srgbClr val="BE7B12"/>
          </a:solidFill>
          <a:ln w="12700">
            <a:solidFill>
              <a:srgbClr val="BE7B12"/>
            </a:solidFill>
            <a:prstDash val="solid"/>
          </a:ln>
        </p:spPr>
      </p:sp>
      <p:sp>
        <p:nvSpPr>
          <p:cNvPr id="7" name=""/>
          <p:cNvSpPr txBox="1"/>
          <p:nvPr/>
        </p:nvSpPr>
        <p:spPr>
          <a:xfrm>
            <a:off x="457200" y="1664208"/>
            <a:ext cx="46177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11 289 €</a:t>
            </a:r>
            <a:endParaRPr sz="1200"/>
          </a:p>
        </p:txBody>
      </p:sp>
      <p:sp>
        <p:nvSpPr>
          <p:cNvPr id="8" name="Shape 6"/>
          <p:cNvSpPr/>
          <p:nvPr/>
        </p:nvSpPr>
        <p:spPr>
          <a:xfrm>
            <a:off x="5102398" y="1517904"/>
            <a:ext cx="2322530" cy="566928"/>
          </a:xfrm>
          <a:prstGeom prst="rect">
            <a:avLst/>
          </a:prstGeom>
          <a:solidFill>
            <a:srgbClr val="2064C0"/>
          </a:solidFill>
          <a:ln w="12700">
            <a:solidFill>
              <a:srgbClr val="2064C0"/>
            </a:solidFill>
            <a:prstDash val="solid"/>
          </a:ln>
        </p:spPr>
      </p:sp>
      <p:sp>
        <p:nvSpPr>
          <p:cNvPr id="9" name=""/>
          <p:cNvSpPr txBox="1"/>
          <p:nvPr/>
        </p:nvSpPr>
        <p:spPr>
          <a:xfrm>
            <a:off x="5102398" y="1664208"/>
            <a:ext cx="23225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5 711 €</a:t>
            </a:r>
            <a:endParaRPr sz="1200"/>
          </a:p>
        </p:txBody>
      </p:sp>
      <p:sp>
        <p:nvSpPr>
          <p:cNvPr id="10" name="Shape 8"/>
          <p:cNvSpPr/>
          <p:nvPr/>
        </p:nvSpPr>
        <p:spPr>
          <a:xfrm>
            <a:off x="7452360" y="1517904"/>
            <a:ext cx="1234440" cy="566928"/>
          </a:xfrm>
          <a:prstGeom prst="rect">
            <a:avLst/>
          </a:prstGeom>
          <a:solidFill>
            <a:srgbClr val="B03024"/>
          </a:solidFill>
          <a:ln w="12700">
            <a:solidFill>
              <a:srgbClr val="B03024"/>
            </a:solidFill>
            <a:prstDash val="solid"/>
          </a:ln>
        </p:spPr>
      </p:sp>
      <p:sp>
        <p:nvSpPr>
          <p:cNvPr id="11" name=""/>
          <p:cNvSpPr txBox="1"/>
          <p:nvPr/>
        </p:nvSpPr>
        <p:spPr>
          <a:xfrm>
            <a:off x="7452360" y="166420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3 000 €</a:t>
            </a:r>
            <a:endParaRPr sz="1200"/>
          </a:p>
        </p:txBody>
      </p:sp>
      <p:sp>
        <p:nvSpPr>
          <p:cNvPr id="12" name=""/>
          <p:cNvSpPr txBox="1"/>
          <p:nvPr/>
        </p:nvSpPr>
        <p:spPr>
          <a:xfrm>
            <a:off x="457200" y="219456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sz="950">
                <a:solidFill>
                  <a:srgbClr val="BE7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de production hors foncier</a:t>
            </a:r>
            <a:endParaRPr sz="950"/>
          </a:p>
        </p:txBody>
      </p:sp>
      <p:sp>
        <p:nvSpPr>
          <p:cNvPr id="13" name=""/>
          <p:cNvSpPr txBox="1"/>
          <p:nvPr/>
        </p:nvSpPr>
        <p:spPr>
          <a:xfrm>
            <a:off x="5102398" y="219456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sz="950">
                <a:solidFill>
                  <a:srgbClr val="206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Foncier implicite</a:t>
            </a:r>
            <a:endParaRPr sz="950"/>
          </a:p>
        </p:txBody>
      </p:sp>
      <p:sp>
        <p:nvSpPr>
          <p:cNvPr id="14" name=""/>
          <p:cNvSpPr txBox="1"/>
          <p:nvPr/>
        </p:nvSpPr>
        <p:spPr>
          <a:xfrm>
            <a:off x="7040880" y="219456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sz="950">
                <a:solidFill>
                  <a:srgbClr val="B03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 et frais financiers</a:t>
            </a:r>
            <a:endParaRPr sz="950"/>
          </a:p>
        </p:txBody>
      </p:sp>
      <p:sp>
        <p:nvSpPr>
          <p:cNvPr id="15" name="Shape 13"/>
          <p:cNvSpPr/>
          <p:nvPr/>
        </p:nvSpPr>
        <p:spPr>
          <a:xfrm>
            <a:off x="457200" y="2907792"/>
            <a:ext cx="2688336" cy="1280160"/>
          </a:xfrm>
          <a:prstGeom prst="rect">
            <a:avLst/>
          </a:prstGeom>
          <a:solidFill>
            <a:srgbClr val="EFEBE2"/>
          </a:solidFill>
          <a:ln w="12700">
            <a:solidFill>
              <a:srgbClr val="EFEBE2"/>
            </a:solidFill>
            <a:prstDash val="solid"/>
          </a:ln>
        </p:spPr>
      </p:sp>
      <p:sp>
        <p:nvSpPr>
          <p:cNvPr id="16" name=""/>
          <p:cNvSpPr txBox="1"/>
          <p:nvPr/>
        </p:nvSpPr>
        <p:spPr>
          <a:xfrm>
            <a:off x="603504" y="3026664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sz="850" b="1" spc="110" kern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DE PRODUCTION</a:t>
            </a:r>
            <a:endParaRPr sz="850"/>
          </a:p>
        </p:txBody>
      </p:sp>
      <p:sp>
        <p:nvSpPr>
          <p:cNvPr id="17" name=""/>
          <p:cNvSpPr txBox="1"/>
          <p:nvPr/>
        </p:nvSpPr>
        <p:spPr>
          <a:xfrm>
            <a:off x="603504" y="3328416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sz="1800">
                <a:solidFill>
                  <a:srgbClr val="8A5A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11 289 €/m²</a:t>
            </a:r>
            <a:endParaRPr sz="1800"/>
          </a:p>
        </p:txBody>
      </p:sp>
      <p:sp>
        <p:nvSpPr>
          <p:cNvPr id="18" name=""/>
          <p:cNvSpPr txBox="1"/>
          <p:nvPr/>
        </p:nvSpPr>
        <p:spPr>
          <a:xfrm>
            <a:off x="603504" y="3657600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sz="90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56,4 % — construction, équipements, extérieurs, mobilier, honoraires</a:t>
            </a:r>
            <a:endParaRPr sz="900"/>
          </a:p>
        </p:txBody>
      </p:sp>
      <p:sp>
        <p:nvSpPr>
          <p:cNvPr id="19" name="Shape 17"/>
          <p:cNvSpPr/>
          <p:nvPr/>
        </p:nvSpPr>
        <p:spPr>
          <a:xfrm>
            <a:off x="3319272" y="2907792"/>
            <a:ext cx="2688336" cy="1280160"/>
          </a:xfrm>
          <a:prstGeom prst="rect">
            <a:avLst/>
          </a:prstGeom>
          <a:solidFill>
            <a:srgbClr val="EFEBE2"/>
          </a:solidFill>
          <a:ln w="12700">
            <a:solidFill>
              <a:srgbClr val="EFEBE2"/>
            </a:solidFill>
            <a:prstDash val="solid"/>
          </a:ln>
        </p:spPr>
      </p:sp>
      <p:sp>
        <p:nvSpPr>
          <p:cNvPr id="20" name=""/>
          <p:cNvSpPr txBox="1"/>
          <p:nvPr/>
        </p:nvSpPr>
        <p:spPr>
          <a:xfrm>
            <a:off x="3465576" y="3026664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sz="850" b="1" spc="110" kern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FONCIER IMPLICITE</a:t>
            </a:r>
            <a:endParaRPr sz="850"/>
          </a:p>
        </p:txBody>
      </p:sp>
      <p:sp>
        <p:nvSpPr>
          <p:cNvPr id="21" name=""/>
          <p:cNvSpPr txBox="1"/>
          <p:nvPr/>
        </p:nvSpPr>
        <p:spPr>
          <a:xfrm>
            <a:off x="3465576" y="3328416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sz="1800">
                <a:solidFill>
                  <a:srgbClr val="8A5A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5 711 €/m²</a:t>
            </a:r>
            <a:endParaRPr sz="1800"/>
          </a:p>
        </p:txBody>
      </p:sp>
      <p:sp>
        <p:nvSpPr>
          <p:cNvPr id="22" name=""/>
          <p:cNvSpPr txBox="1"/>
          <p:nvPr/>
        </p:nvSpPr>
        <p:spPr>
          <a:xfrm>
            <a:off x="3465576" y="3657600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sz="90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28,6 % — soit 2 409 126 € pour 2 033 m² de terrain</a:t>
            </a:r>
            <a:endParaRPr sz="900"/>
          </a:p>
        </p:txBody>
      </p:sp>
      <p:sp>
        <p:nvSpPr>
          <p:cNvPr id="23" name="Shape 21"/>
          <p:cNvSpPr/>
          <p:nvPr/>
        </p:nvSpPr>
        <p:spPr>
          <a:xfrm>
            <a:off x="6181344" y="2907792"/>
            <a:ext cx="2688336" cy="1280160"/>
          </a:xfrm>
          <a:prstGeom prst="rect">
            <a:avLst/>
          </a:prstGeom>
          <a:solidFill>
            <a:srgbClr val="EFEBE2"/>
          </a:solidFill>
          <a:ln w="12700">
            <a:solidFill>
              <a:srgbClr val="EFEBE2"/>
            </a:solidFill>
            <a:prstDash val="solid"/>
          </a:ln>
        </p:spPr>
      </p:sp>
      <p:sp>
        <p:nvSpPr>
          <p:cNvPr id="24" name=""/>
          <p:cNvSpPr txBox="1"/>
          <p:nvPr/>
        </p:nvSpPr>
        <p:spPr>
          <a:xfrm>
            <a:off x="6327648" y="3026664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sz="850" b="1" spc="110" kern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 ET FRAIS</a:t>
            </a:r>
            <a:endParaRPr sz="850"/>
          </a:p>
        </p:txBody>
      </p:sp>
      <p:sp>
        <p:nvSpPr>
          <p:cNvPr id="25" name=""/>
          <p:cNvSpPr txBox="1"/>
          <p:nvPr/>
        </p:nvSpPr>
        <p:spPr>
          <a:xfrm>
            <a:off x="6327648" y="3328416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sz="1800">
                <a:solidFill>
                  <a:srgbClr val="8A5A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3 000 €/m²</a:t>
            </a:r>
            <a:endParaRPr sz="1800"/>
          </a:p>
        </p:txBody>
      </p:sp>
      <p:sp>
        <p:nvSpPr>
          <p:cNvPr id="26" name=""/>
          <p:cNvSpPr txBox="1"/>
          <p:nvPr/>
        </p:nvSpPr>
        <p:spPr>
          <a:xfrm>
            <a:off x="6327648" y="3657600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sz="90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15,0 % — marge d'opération 12 % et portage 3 %</a:t>
            </a:r>
            <a:endParaRPr sz="900"/>
          </a:p>
        </p:txBody>
      </p:sp>
      <p:sp>
        <p:nvSpPr>
          <p:cNvPr id="27" name=""/>
          <p:cNvSpPr txBox="1"/>
          <p:nvPr/>
        </p:nvSpPr>
        <p:spPr>
          <a:xfrm>
            <a:off x="457200" y="466801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sz="850" i="1">
                <a:solidFill>
                  <a:srgbClr val="8E8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Coûts d'ordre de grandeur, à substituer par les coûts réels de l'opération.</a:t>
            </a:r>
            <a:endParaRPr sz="85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457200" y="31089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000" b="1" spc="200" kern="0">
                <a:solidFill>
                  <a:srgbClr val="8A5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 · MÉTHODE 1 — BILAN DE RECONSTITUTION</a:t>
            </a:r>
            <a:endParaRPr sz="1000"/>
          </a:p>
        </p:txBody>
      </p:sp>
      <p:sp>
        <p:nvSpPr>
          <p:cNvPr id="3" name=""/>
          <p:cNvSpPr txBox="1"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sz="2800">
                <a:solidFill>
                  <a:srgbClr val="1E1A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bilan, poste par poste</a:t>
            </a:r>
            <a:endParaRPr sz="2800"/>
          </a:p>
        </p:txBody>
      </p:sp>
      <p:sp>
        <p:nvSpPr>
          <p:cNvPr id="4" name="Shape 2"/>
          <p:cNvSpPr/>
          <p:nvPr/>
        </p:nvSpPr>
        <p:spPr>
          <a:xfrm>
            <a:off x="457200" y="1207008"/>
            <a:ext cx="8229600" cy="237744"/>
          </a:xfrm>
          <a:prstGeom prst="rect">
            <a:avLst/>
          </a:prstGeom>
          <a:solidFill>
            <a:srgbClr val="EFEBE2"/>
          </a:solidFill>
          <a:ln w="12700">
            <a:solidFill>
              <a:srgbClr val="EFEBE2"/>
            </a:solidFill>
            <a:prstDash val="solid"/>
          </a:ln>
        </p:spPr>
      </p:sp>
      <p:sp>
        <p:nvSpPr>
          <p:cNvPr id="5" name=""/>
          <p:cNvSpPr txBox="1"/>
          <p:nvPr/>
        </p:nvSpPr>
        <p:spPr>
          <a:xfrm>
            <a:off x="539496" y="1234440"/>
            <a:ext cx="6327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sz="850" b="1" spc="90" kern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</a:t>
            </a:r>
            <a:endParaRPr sz="850"/>
          </a:p>
        </p:txBody>
      </p:sp>
      <p:sp>
        <p:nvSpPr>
          <p:cNvPr id="6" name=""/>
          <p:cNvSpPr txBox="1"/>
          <p:nvPr/>
        </p:nvSpPr>
        <p:spPr>
          <a:xfrm>
            <a:off x="7031736" y="1234440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sz="850" b="1" spc="90" kern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MONTANT HT</a:t>
            </a:r>
            <a:endParaRPr sz="850"/>
          </a:p>
        </p:txBody>
      </p:sp>
      <p:sp>
        <p:nvSpPr>
          <p:cNvPr id="7" name="Shape 5"/>
          <p:cNvSpPr/>
          <p:nvPr/>
        </p:nvSpPr>
        <p:spPr>
          <a:xfrm>
            <a:off x="457200" y="1719072"/>
            <a:ext cx="8229600" cy="0"/>
          </a:xfrm>
          <a:prstGeom prst="line">
            <a:avLst/>
          </a:prstGeom>
          <a:noFill/>
          <a:ln w="6350">
            <a:solidFill>
              <a:srgbClr val="E2DCCF"/>
            </a:solidFill>
            <a:prstDash val="solid"/>
          </a:ln>
        </p:spPr>
      </p:sp>
      <p:sp>
        <p:nvSpPr>
          <p:cNvPr id="8" name=""/>
          <p:cNvSpPr txBox="1"/>
          <p:nvPr/>
        </p:nvSpPr>
        <p:spPr>
          <a:xfrm>
            <a:off x="539496" y="1485900"/>
            <a:ext cx="6327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sz="950">
                <a:solidFill>
                  <a:srgbClr val="3D3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 œuvre et second œuvre — 421,82 m² × 5 200 €/m²</a:t>
            </a:r>
            <a:endParaRPr sz="950"/>
          </a:p>
        </p:txBody>
      </p:sp>
      <p:sp>
        <p:nvSpPr>
          <p:cNvPr id="9" name=""/>
          <p:cNvSpPr txBox="1"/>
          <p:nvPr/>
        </p:nvSpPr>
        <p:spPr>
          <a:xfrm>
            <a:off x="7031736" y="1485900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sz="950">
                <a:solidFill>
                  <a:srgbClr val="3D3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2 193 464 €</a:t>
            </a:r>
            <a:endParaRPr sz="950"/>
          </a:p>
        </p:txBody>
      </p:sp>
      <p:sp>
        <p:nvSpPr>
          <p:cNvPr id="10" name="Shape 8"/>
          <p:cNvSpPr/>
          <p:nvPr/>
        </p:nvSpPr>
        <p:spPr>
          <a:xfrm>
            <a:off x="457200" y="1993392"/>
            <a:ext cx="8229600" cy="0"/>
          </a:xfrm>
          <a:prstGeom prst="line">
            <a:avLst/>
          </a:prstGeom>
          <a:noFill/>
          <a:ln w="6350">
            <a:solidFill>
              <a:srgbClr val="E2DCCF"/>
            </a:solidFill>
            <a:prstDash val="solid"/>
          </a:ln>
        </p:spPr>
      </p:sp>
      <p:sp>
        <p:nvSpPr>
          <p:cNvPr id="11" name=""/>
          <p:cNvSpPr txBox="1"/>
          <p:nvPr/>
        </p:nvSpPr>
        <p:spPr>
          <a:xfrm>
            <a:off x="539496" y="1760220"/>
            <a:ext cx="6327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sz="950">
                <a:solidFill>
                  <a:srgbClr val="3D3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Garage et local technique — 80,67 m² × 1 800 €/m²</a:t>
            </a:r>
            <a:endParaRPr sz="950"/>
          </a:p>
        </p:txBody>
      </p:sp>
      <p:sp>
        <p:nvSpPr>
          <p:cNvPr id="12" name=""/>
          <p:cNvSpPr txBox="1"/>
          <p:nvPr/>
        </p:nvSpPr>
        <p:spPr>
          <a:xfrm>
            <a:off x="7031736" y="1760220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sz="950">
                <a:solidFill>
                  <a:srgbClr val="3D3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145 206 €</a:t>
            </a:r>
            <a:endParaRPr sz="950"/>
          </a:p>
        </p:txBody>
      </p:sp>
      <p:sp>
        <p:nvSpPr>
          <p:cNvPr id="13" name="Shape 11"/>
          <p:cNvSpPr/>
          <p:nvPr/>
        </p:nvSpPr>
        <p:spPr>
          <a:xfrm>
            <a:off x="457200" y="2267712"/>
            <a:ext cx="8229600" cy="0"/>
          </a:xfrm>
          <a:prstGeom prst="line">
            <a:avLst/>
          </a:prstGeom>
          <a:noFill/>
          <a:ln w="6350">
            <a:solidFill>
              <a:srgbClr val="E2DCCF"/>
            </a:solidFill>
            <a:prstDash val="solid"/>
          </a:ln>
        </p:spPr>
      </p:sp>
      <p:sp>
        <p:nvSpPr>
          <p:cNvPr id="14" name=""/>
          <p:cNvSpPr txBox="1"/>
          <p:nvPr/>
        </p:nvSpPr>
        <p:spPr>
          <a:xfrm>
            <a:off x="539496" y="2034540"/>
            <a:ext cx="6327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sz="950">
                <a:solidFill>
                  <a:srgbClr val="3D3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Équipements d'exception — projection, cuisine, sport, domotique, sauna, chambre froide</a:t>
            </a:r>
            <a:endParaRPr sz="950"/>
          </a:p>
        </p:txBody>
      </p:sp>
      <p:sp>
        <p:nvSpPr>
          <p:cNvPr id="15" name=""/>
          <p:cNvSpPr txBox="1"/>
          <p:nvPr/>
        </p:nvSpPr>
        <p:spPr>
          <a:xfrm>
            <a:off x="7031736" y="2034540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sz="950">
                <a:solidFill>
                  <a:srgbClr val="3D3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550 000 €</a:t>
            </a:r>
            <a:endParaRPr sz="950"/>
          </a:p>
        </p:txBody>
      </p:sp>
      <p:sp>
        <p:nvSpPr>
          <p:cNvPr id="16" name="Shape 14"/>
          <p:cNvSpPr/>
          <p:nvPr/>
        </p:nvSpPr>
        <p:spPr>
          <a:xfrm>
            <a:off x="457200" y="2542032"/>
            <a:ext cx="8229600" cy="0"/>
          </a:xfrm>
          <a:prstGeom prst="line">
            <a:avLst/>
          </a:prstGeom>
          <a:noFill/>
          <a:ln w="6350">
            <a:solidFill>
              <a:srgbClr val="E2DCCF"/>
            </a:solidFill>
            <a:prstDash val="solid"/>
          </a:ln>
        </p:spPr>
      </p:sp>
      <p:sp>
        <p:nvSpPr>
          <p:cNvPr id="17" name=""/>
          <p:cNvSpPr txBox="1"/>
          <p:nvPr/>
        </p:nvSpPr>
        <p:spPr>
          <a:xfrm>
            <a:off x="539496" y="2308860"/>
            <a:ext cx="6327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sz="950">
                <a:solidFill>
                  <a:srgbClr val="3D3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Aménagements extérieurs — soutènements, paysagisme, terrasses, piscine, cuisine d'été</a:t>
            </a:r>
            <a:endParaRPr sz="950"/>
          </a:p>
        </p:txBody>
      </p:sp>
      <p:sp>
        <p:nvSpPr>
          <p:cNvPr id="18" name=""/>
          <p:cNvSpPr txBox="1"/>
          <p:nvPr/>
        </p:nvSpPr>
        <p:spPr>
          <a:xfrm>
            <a:off x="7031736" y="2308860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sz="950">
                <a:solidFill>
                  <a:srgbClr val="3D3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680 000 €</a:t>
            </a:r>
            <a:endParaRPr sz="950"/>
          </a:p>
        </p:txBody>
      </p:sp>
      <p:sp>
        <p:nvSpPr>
          <p:cNvPr id="19" name="Shape 17"/>
          <p:cNvSpPr/>
          <p:nvPr/>
        </p:nvSpPr>
        <p:spPr>
          <a:xfrm>
            <a:off x="457200" y="2816352"/>
            <a:ext cx="8229600" cy="0"/>
          </a:xfrm>
          <a:prstGeom prst="line">
            <a:avLst/>
          </a:prstGeom>
          <a:noFill/>
          <a:ln w="6350">
            <a:solidFill>
              <a:srgbClr val="E2DCCF"/>
            </a:solidFill>
            <a:prstDash val="solid"/>
          </a:ln>
        </p:spPr>
      </p:sp>
      <p:sp>
        <p:nvSpPr>
          <p:cNvPr id="20" name=""/>
          <p:cNvSpPr txBox="1"/>
          <p:nvPr/>
        </p:nvSpPr>
        <p:spPr>
          <a:xfrm>
            <a:off x="539496" y="2583180"/>
            <a:ext cx="6327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sz="950">
                <a:solidFill>
                  <a:srgbClr val="3D3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Mobilier et décoration — sélection La Crémerie</a:t>
            </a:r>
            <a:endParaRPr sz="950"/>
          </a:p>
        </p:txBody>
      </p:sp>
      <p:sp>
        <p:nvSpPr>
          <p:cNvPr id="21" name=""/>
          <p:cNvSpPr txBox="1"/>
          <p:nvPr/>
        </p:nvSpPr>
        <p:spPr>
          <a:xfrm>
            <a:off x="7031736" y="2583180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sz="950">
                <a:solidFill>
                  <a:srgbClr val="3D3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550 000 €</a:t>
            </a:r>
            <a:endParaRPr sz="950"/>
          </a:p>
        </p:txBody>
      </p:sp>
      <p:sp>
        <p:nvSpPr>
          <p:cNvPr id="22" name="Shape 20"/>
          <p:cNvSpPr/>
          <p:nvPr/>
        </p:nvSpPr>
        <p:spPr>
          <a:xfrm>
            <a:off x="457200" y="3090672"/>
            <a:ext cx="8229600" cy="0"/>
          </a:xfrm>
          <a:prstGeom prst="line">
            <a:avLst/>
          </a:prstGeom>
          <a:noFill/>
          <a:ln w="6350">
            <a:solidFill>
              <a:srgbClr val="E2DCCF"/>
            </a:solidFill>
            <a:prstDash val="solid"/>
          </a:ln>
        </p:spPr>
      </p:sp>
      <p:sp>
        <p:nvSpPr>
          <p:cNvPr id="23" name=""/>
          <p:cNvSpPr txBox="1"/>
          <p:nvPr/>
        </p:nvSpPr>
        <p:spPr>
          <a:xfrm>
            <a:off x="539496" y="2857500"/>
            <a:ext cx="6327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sz="950">
                <a:solidFill>
                  <a:srgbClr val="3D3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Honoraires, assurances et taxes — maîtrise d'œuvre 13 %, DO et RCD 2,5 %</a:t>
            </a:r>
            <a:endParaRPr sz="950"/>
          </a:p>
        </p:txBody>
      </p:sp>
      <p:sp>
        <p:nvSpPr>
          <p:cNvPr id="24" name=""/>
          <p:cNvSpPr txBox="1"/>
          <p:nvPr/>
        </p:nvSpPr>
        <p:spPr>
          <a:xfrm>
            <a:off x="7031736" y="2857500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sz="950">
                <a:solidFill>
                  <a:srgbClr val="3D3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643 144 €</a:t>
            </a:r>
            <a:endParaRPr sz="950"/>
          </a:p>
        </p:txBody>
      </p:sp>
      <p:sp>
        <p:nvSpPr>
          <p:cNvPr id="25" name="Shape 23"/>
          <p:cNvSpPr/>
          <p:nvPr/>
        </p:nvSpPr>
        <p:spPr>
          <a:xfrm>
            <a:off x="457200" y="3090672"/>
            <a:ext cx="8229600" cy="274320"/>
          </a:xfrm>
          <a:prstGeom prst="rect">
            <a:avLst/>
          </a:prstGeom>
          <a:solidFill>
            <a:srgbClr val="F6EFE0"/>
          </a:solidFill>
          <a:ln w="12700">
            <a:solidFill>
              <a:srgbClr val="F6EF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364992"/>
            <a:ext cx="8229600" cy="0"/>
          </a:xfrm>
          <a:prstGeom prst="line">
            <a:avLst/>
          </a:prstGeom>
          <a:noFill/>
          <a:ln w="6350">
            <a:solidFill>
              <a:srgbClr val="E2DCCF"/>
            </a:solidFill>
            <a:prstDash val="solid"/>
          </a:ln>
        </p:spPr>
      </p:sp>
      <p:sp>
        <p:nvSpPr>
          <p:cNvPr id="27" name=""/>
          <p:cNvSpPr txBox="1"/>
          <p:nvPr/>
        </p:nvSpPr>
        <p:spPr>
          <a:xfrm>
            <a:off x="539496" y="3131820"/>
            <a:ext cx="6327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sz="950" b="1">
                <a:solidFill>
                  <a:srgbClr val="1E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de production hors foncier</a:t>
            </a:r>
            <a:endParaRPr sz="950"/>
          </a:p>
        </p:txBody>
      </p:sp>
      <p:sp>
        <p:nvSpPr>
          <p:cNvPr id="28" name=""/>
          <p:cNvSpPr txBox="1"/>
          <p:nvPr/>
        </p:nvSpPr>
        <p:spPr>
          <a:xfrm>
            <a:off x="7031736" y="3131820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sz="950" b="1">
                <a:solidFill>
                  <a:srgbClr val="1E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4 761 814 €</a:t>
            </a:r>
            <a:endParaRPr sz="950"/>
          </a:p>
        </p:txBody>
      </p:sp>
      <p:sp>
        <p:nvSpPr>
          <p:cNvPr id="29" name="Shape 27"/>
          <p:cNvSpPr/>
          <p:nvPr/>
        </p:nvSpPr>
        <p:spPr>
          <a:xfrm>
            <a:off x="457200" y="3639312"/>
            <a:ext cx="8229600" cy="0"/>
          </a:xfrm>
          <a:prstGeom prst="line">
            <a:avLst/>
          </a:prstGeom>
          <a:noFill/>
          <a:ln w="6350">
            <a:solidFill>
              <a:srgbClr val="E2DCCF"/>
            </a:solidFill>
            <a:prstDash val="solid"/>
          </a:ln>
        </p:spPr>
      </p:sp>
      <p:sp>
        <p:nvSpPr>
          <p:cNvPr id="30" name=""/>
          <p:cNvSpPr txBox="1"/>
          <p:nvPr/>
        </p:nvSpPr>
        <p:spPr>
          <a:xfrm>
            <a:off x="539496" y="3406140"/>
            <a:ext cx="6327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sz="950">
                <a:solidFill>
                  <a:srgbClr val="3D3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 d'opération (12 %) et frais financiers (3 %)</a:t>
            </a:r>
            <a:endParaRPr sz="950"/>
          </a:p>
        </p:txBody>
      </p:sp>
      <p:sp>
        <p:nvSpPr>
          <p:cNvPr id="31" name=""/>
          <p:cNvSpPr txBox="1"/>
          <p:nvPr/>
        </p:nvSpPr>
        <p:spPr>
          <a:xfrm>
            <a:off x="7031736" y="3406140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sz="950">
                <a:solidFill>
                  <a:srgbClr val="3D3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1 265 460 €</a:t>
            </a:r>
            <a:endParaRPr sz="950"/>
          </a:p>
        </p:txBody>
      </p:sp>
      <p:sp>
        <p:nvSpPr>
          <p:cNvPr id="32" name="Shape 30"/>
          <p:cNvSpPr/>
          <p:nvPr/>
        </p:nvSpPr>
        <p:spPr>
          <a:xfrm>
            <a:off x="457200" y="3639312"/>
            <a:ext cx="8229600" cy="274320"/>
          </a:xfrm>
          <a:prstGeom prst="rect">
            <a:avLst/>
          </a:prstGeom>
          <a:solidFill>
            <a:srgbClr val="F6EFE0"/>
          </a:solidFill>
          <a:ln w="12700">
            <a:solidFill>
              <a:srgbClr val="F6EFE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3913632"/>
            <a:ext cx="8229600" cy="0"/>
          </a:xfrm>
          <a:prstGeom prst="line">
            <a:avLst/>
          </a:prstGeom>
          <a:noFill/>
          <a:ln w="6350">
            <a:solidFill>
              <a:srgbClr val="E2DCCF"/>
            </a:solidFill>
            <a:prstDash val="solid"/>
          </a:ln>
        </p:spPr>
      </p:sp>
      <p:sp>
        <p:nvSpPr>
          <p:cNvPr id="34" name=""/>
          <p:cNvSpPr txBox="1"/>
          <p:nvPr/>
        </p:nvSpPr>
        <p:spPr>
          <a:xfrm>
            <a:off x="539496" y="3680460"/>
            <a:ext cx="6327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sz="950" b="1">
                <a:solidFill>
                  <a:srgbClr val="1E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Foncier implicite — résidu</a:t>
            </a:r>
            <a:endParaRPr sz="950"/>
          </a:p>
        </p:txBody>
      </p:sp>
      <p:sp>
        <p:nvSpPr>
          <p:cNvPr id="35" name=""/>
          <p:cNvSpPr txBox="1"/>
          <p:nvPr/>
        </p:nvSpPr>
        <p:spPr>
          <a:xfrm>
            <a:off x="7031736" y="3680460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sz="950" b="1">
                <a:solidFill>
                  <a:srgbClr val="1E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2 409 126 €</a:t>
            </a:r>
            <a:endParaRPr sz="950"/>
          </a:p>
        </p:txBody>
      </p:sp>
      <p:sp>
        <p:nvSpPr>
          <p:cNvPr id="36" name=""/>
          <p:cNvSpPr txBox="1"/>
          <p:nvPr/>
        </p:nvSpPr>
        <p:spPr>
          <a:xfrm>
            <a:off x="457200" y="466801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sz="850" i="1">
                <a:solidFill>
                  <a:srgbClr val="8E8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prix d'acquisition effectif de la parcelle AF 168 doit remplacer le foncier implicite : c'est la donnée qui verrouille définitivement ce bilan.</a:t>
            </a:r>
            <a:endParaRPr sz="85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C18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457200" y="658368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000" b="1" spc="220" kern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 · MÉTHODE 1 — LE RÉSULTAT</a:t>
            </a:r>
            <a:endParaRPr sz="1000"/>
          </a:p>
        </p:txBody>
      </p:sp>
      <p:sp>
        <p:nvSpPr>
          <p:cNvPr id="3" name=""/>
          <p:cNvSpPr txBox="1"/>
          <p:nvPr/>
        </p:nvSpPr>
        <p:spPr>
          <a:xfrm>
            <a:off x="457200" y="1078992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6800">
                <a:solidFill>
                  <a:srgbClr val="D9A5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1 185 €/m²</a:t>
            </a:r>
            <a:endParaRPr sz="6800"/>
          </a:p>
        </p:txBody>
      </p:sp>
      <p:sp>
        <p:nvSpPr>
          <p:cNvPr id="4" name=""/>
          <p:cNvSpPr txBox="1"/>
          <p:nvPr/>
        </p:nvSpPr>
        <p:spPr>
          <a:xfrm>
            <a:off x="457200" y="23774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sz="1400">
                <a:solidFill>
                  <a:srgbClr val="CFC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la valeur foncière qu'implique un prix de 8 436 400 €, pour une parcelle de 2 033 m² avec vue mer à La Nartelle. Ce niveau est cohérent avec le marché du foncier constructible vue mer du Golfe — il en est même plutôt le bas.</a:t>
            </a:r>
            <a:endParaRPr sz="1400"/>
          </a:p>
        </p:txBody>
      </p:sp>
      <p:sp>
        <p:nvSpPr>
          <p:cNvPr id="5" name="Shape 3"/>
          <p:cNvSpPr/>
          <p:nvPr/>
        </p:nvSpPr>
        <p:spPr>
          <a:xfrm>
            <a:off x="457200" y="3364992"/>
            <a:ext cx="8229600" cy="969264"/>
          </a:xfrm>
          <a:prstGeom prst="rect">
            <a:avLst/>
          </a:prstGeom>
          <a:solidFill>
            <a:srgbClr val="2A241A"/>
          </a:solidFill>
          <a:ln w="12700">
            <a:solidFill>
              <a:srgbClr val="2A241A"/>
            </a:solidFill>
            <a:prstDash val="solid"/>
          </a:ln>
        </p:spPr>
      </p:sp>
      <p:sp>
        <p:nvSpPr>
          <p:cNvPr id="6" name=""/>
          <p:cNvSpPr txBox="1"/>
          <p:nvPr/>
        </p:nvSpPr>
        <p:spPr>
          <a:xfrm>
            <a:off x="694944" y="3529584"/>
            <a:ext cx="77541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sz="1300" i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prix ne se défend pas malgré le coût de production : il est contraint par lui. Descendre sous 8 M€ reviendrait à valoriser le terrain à moins de 900 €/m², ce qu'aucun propriétaire foncier de La Nartelle n'accepterait.</a:t>
            </a:r>
            <a:endParaRPr sz="13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457200" y="31089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000" b="1" spc="200" kern="0">
                <a:solidFill>
                  <a:srgbClr val="8A5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 · MÉTHODE 2 — COMPARABLES D'OFFRE</a:t>
            </a:r>
            <a:endParaRPr sz="1000"/>
          </a:p>
        </p:txBody>
      </p:sp>
      <p:sp>
        <p:nvSpPr>
          <p:cNvPr id="3" name=""/>
          <p:cNvSpPr txBox="1"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sz="2800">
                <a:solidFill>
                  <a:srgbClr val="1E1A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annonces en cours à Sainte-Maxime</a:t>
            </a:r>
            <a:endParaRPr sz="2800"/>
          </a:p>
        </p:txBody>
      </p:sp>
      <p:sp>
        <p:nvSpPr>
          <p:cNvPr id="4" name=""/>
          <p:cNvSpPr txBox="1"/>
          <p:nvPr/>
        </p:nvSpPr>
        <p:spPr>
          <a:xfrm>
            <a:off x="457200" y="1211580"/>
            <a:ext cx="25146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sz="850">
                <a:solidFill>
                  <a:srgbClr val="4A42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Contemporaine vue mer, 295 m²</a:t>
            </a:r>
            <a:endParaRPr sz="850"/>
          </a:p>
        </p:txBody>
      </p:sp>
      <p:sp>
        <p:nvSpPr>
          <p:cNvPr id="5" name="Shape 3"/>
          <p:cNvSpPr/>
          <p:nvPr/>
        </p:nvSpPr>
        <p:spPr>
          <a:xfrm>
            <a:off x="3063240" y="1225296"/>
            <a:ext cx="4235626" cy="178308"/>
          </a:xfrm>
          <a:prstGeom prst="rect">
            <a:avLst/>
          </a:prstGeom>
          <a:solidFill>
            <a:srgbClr val="BE7B12"/>
          </a:solidFill>
          <a:ln w="12700">
            <a:solidFill>
              <a:srgbClr val="BE7B12"/>
            </a:solidFill>
            <a:prstDash val="solid"/>
          </a:ln>
        </p:spPr>
      </p:sp>
      <p:sp>
        <p:nvSpPr>
          <p:cNvPr id="6" name=""/>
          <p:cNvSpPr txBox="1"/>
          <p:nvPr/>
        </p:nvSpPr>
        <p:spPr>
          <a:xfrm>
            <a:off x="7362874" y="1211580"/>
            <a:ext cx="749808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sz="85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23 390 €</a:t>
            </a:r>
            <a:endParaRPr sz="850"/>
          </a:p>
        </p:txBody>
      </p:sp>
      <p:sp>
        <p:nvSpPr>
          <p:cNvPr id="7" name=""/>
          <p:cNvSpPr txBox="1"/>
          <p:nvPr/>
        </p:nvSpPr>
        <p:spPr>
          <a:xfrm>
            <a:off x="457200" y="1481328"/>
            <a:ext cx="25146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sz="850" b="1">
                <a:solidFill>
                  <a:srgbClr val="1E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VILLA ROI DE LA CAMARGUE, 422 m²</a:t>
            </a:r>
            <a:endParaRPr sz="850"/>
          </a:p>
        </p:txBody>
      </p:sp>
      <p:sp>
        <p:nvSpPr>
          <p:cNvPr id="8" name="Shape 6"/>
          <p:cNvSpPr/>
          <p:nvPr/>
        </p:nvSpPr>
        <p:spPr>
          <a:xfrm>
            <a:off x="3063240" y="1495044"/>
            <a:ext cx="3621741" cy="178308"/>
          </a:xfrm>
          <a:prstGeom prst="rect">
            <a:avLst/>
          </a:prstGeom>
          <a:solidFill>
            <a:srgbClr val="1E1A14"/>
          </a:solidFill>
          <a:ln w="12700">
            <a:solidFill>
              <a:srgbClr val="1E1A14"/>
            </a:solidFill>
            <a:prstDash val="solid"/>
          </a:ln>
        </p:spPr>
      </p:sp>
      <p:sp>
        <p:nvSpPr>
          <p:cNvPr id="9" name=""/>
          <p:cNvSpPr txBox="1"/>
          <p:nvPr/>
        </p:nvSpPr>
        <p:spPr>
          <a:xfrm>
            <a:off x="6748989" y="1481328"/>
            <a:ext cx="749808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sz="850" b="1">
                <a:solidFill>
                  <a:srgbClr val="1E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20 000 €</a:t>
            </a:r>
            <a:endParaRPr sz="850"/>
          </a:p>
        </p:txBody>
      </p:sp>
      <p:sp>
        <p:nvSpPr>
          <p:cNvPr id="10" name=""/>
          <p:cNvSpPr txBox="1"/>
          <p:nvPr/>
        </p:nvSpPr>
        <p:spPr>
          <a:xfrm>
            <a:off x="457200" y="1751076"/>
            <a:ext cx="25146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sz="850">
                <a:solidFill>
                  <a:srgbClr val="4A42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Villa neuve centre, 320 m²</a:t>
            </a:r>
            <a:endParaRPr sz="850"/>
          </a:p>
        </p:txBody>
      </p:sp>
      <p:sp>
        <p:nvSpPr>
          <p:cNvPr id="11" name="Shape 9"/>
          <p:cNvSpPr/>
          <p:nvPr/>
        </p:nvSpPr>
        <p:spPr>
          <a:xfrm>
            <a:off x="3063240" y="1764792"/>
            <a:ext cx="3565242" cy="178308"/>
          </a:xfrm>
          <a:prstGeom prst="rect">
            <a:avLst/>
          </a:prstGeom>
          <a:solidFill>
            <a:srgbClr val="BE7B12"/>
          </a:solidFill>
          <a:ln w="12700">
            <a:solidFill>
              <a:srgbClr val="BE7B12"/>
            </a:solidFill>
            <a:prstDash val="solid"/>
          </a:ln>
        </p:spPr>
      </p:sp>
      <p:sp>
        <p:nvSpPr>
          <p:cNvPr id="12" name=""/>
          <p:cNvSpPr txBox="1"/>
          <p:nvPr/>
        </p:nvSpPr>
        <p:spPr>
          <a:xfrm>
            <a:off x="6692490" y="1751076"/>
            <a:ext cx="749808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sz="85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19 688 €</a:t>
            </a:r>
            <a:endParaRPr sz="850"/>
          </a:p>
        </p:txBody>
      </p:sp>
      <p:sp>
        <p:nvSpPr>
          <p:cNvPr id="13" name=""/>
          <p:cNvSpPr txBox="1"/>
          <p:nvPr/>
        </p:nvSpPr>
        <p:spPr>
          <a:xfrm>
            <a:off x="457200" y="2020824"/>
            <a:ext cx="25146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sz="850">
                <a:solidFill>
                  <a:srgbClr val="4A42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Contemporaine neuve, 264 m²</a:t>
            </a:r>
            <a:endParaRPr sz="850"/>
          </a:p>
        </p:txBody>
      </p:sp>
      <p:sp>
        <p:nvSpPr>
          <p:cNvPr id="14" name="Shape 12"/>
          <p:cNvSpPr/>
          <p:nvPr/>
        </p:nvSpPr>
        <p:spPr>
          <a:xfrm>
            <a:off x="3063240" y="2034540"/>
            <a:ext cx="3292525" cy="178308"/>
          </a:xfrm>
          <a:prstGeom prst="rect">
            <a:avLst/>
          </a:prstGeom>
          <a:solidFill>
            <a:srgbClr val="BE7B12"/>
          </a:solidFill>
          <a:ln w="12700">
            <a:solidFill>
              <a:srgbClr val="BE7B12"/>
            </a:solidFill>
            <a:prstDash val="solid"/>
          </a:ln>
        </p:spPr>
      </p:sp>
      <p:sp>
        <p:nvSpPr>
          <p:cNvPr id="15" name=""/>
          <p:cNvSpPr txBox="1"/>
          <p:nvPr/>
        </p:nvSpPr>
        <p:spPr>
          <a:xfrm>
            <a:off x="6419773" y="2020824"/>
            <a:ext cx="749808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sz="85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18 182 €</a:t>
            </a:r>
            <a:endParaRPr sz="850"/>
          </a:p>
        </p:txBody>
      </p:sp>
      <p:sp>
        <p:nvSpPr>
          <p:cNvPr id="16" name=""/>
          <p:cNvSpPr txBox="1"/>
          <p:nvPr/>
        </p:nvSpPr>
        <p:spPr>
          <a:xfrm>
            <a:off x="457200" y="2290572"/>
            <a:ext cx="25146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sz="850">
                <a:solidFill>
                  <a:srgbClr val="4A42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Surplombant la mer, 358 m²</a:t>
            </a:r>
            <a:endParaRPr sz="850"/>
          </a:p>
        </p:txBody>
      </p:sp>
      <p:sp>
        <p:nvSpPr>
          <p:cNvPr id="17" name="Shape 15"/>
          <p:cNvSpPr/>
          <p:nvPr/>
        </p:nvSpPr>
        <p:spPr>
          <a:xfrm>
            <a:off x="3063240" y="2304288"/>
            <a:ext cx="3287817" cy="178308"/>
          </a:xfrm>
          <a:prstGeom prst="rect">
            <a:avLst/>
          </a:prstGeom>
          <a:solidFill>
            <a:srgbClr val="BE7B12"/>
          </a:solidFill>
          <a:ln w="12700">
            <a:solidFill>
              <a:srgbClr val="BE7B12"/>
            </a:solidFill>
            <a:prstDash val="solid"/>
          </a:ln>
        </p:spPr>
      </p:sp>
      <p:sp>
        <p:nvSpPr>
          <p:cNvPr id="18" name=""/>
          <p:cNvSpPr txBox="1"/>
          <p:nvPr/>
        </p:nvSpPr>
        <p:spPr>
          <a:xfrm>
            <a:off x="6415065" y="2290572"/>
            <a:ext cx="749808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sz="85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18 156 €</a:t>
            </a:r>
            <a:endParaRPr sz="850"/>
          </a:p>
        </p:txBody>
      </p:sp>
      <p:sp>
        <p:nvSpPr>
          <p:cNvPr id="19" name=""/>
          <p:cNvSpPr txBox="1"/>
          <p:nvPr/>
        </p:nvSpPr>
        <p:spPr>
          <a:xfrm>
            <a:off x="457200" y="2560320"/>
            <a:ext cx="25146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sz="850">
                <a:solidFill>
                  <a:srgbClr val="4A42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Méditerranéenne, 365 m²</a:t>
            </a:r>
            <a:endParaRPr sz="850"/>
          </a:p>
        </p:txBody>
      </p:sp>
      <p:sp>
        <p:nvSpPr>
          <p:cNvPr id="20" name="Shape 18"/>
          <p:cNvSpPr/>
          <p:nvPr/>
        </p:nvSpPr>
        <p:spPr>
          <a:xfrm>
            <a:off x="3063240" y="2574036"/>
            <a:ext cx="3224798" cy="178308"/>
          </a:xfrm>
          <a:prstGeom prst="rect">
            <a:avLst/>
          </a:prstGeom>
          <a:solidFill>
            <a:srgbClr val="2064C0"/>
          </a:solidFill>
          <a:ln w="12700">
            <a:solidFill>
              <a:srgbClr val="2064C0"/>
            </a:solidFill>
            <a:prstDash val="solid"/>
          </a:ln>
        </p:spPr>
      </p:sp>
      <p:sp>
        <p:nvSpPr>
          <p:cNvPr id="21" name=""/>
          <p:cNvSpPr txBox="1"/>
          <p:nvPr/>
        </p:nvSpPr>
        <p:spPr>
          <a:xfrm>
            <a:off x="6352046" y="2560320"/>
            <a:ext cx="749808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sz="85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17 808 €</a:t>
            </a:r>
            <a:endParaRPr sz="850"/>
          </a:p>
        </p:txBody>
      </p:sp>
      <p:sp>
        <p:nvSpPr>
          <p:cNvPr id="22" name=""/>
          <p:cNvSpPr txBox="1"/>
          <p:nvPr/>
        </p:nvSpPr>
        <p:spPr>
          <a:xfrm>
            <a:off x="457200" y="2830068"/>
            <a:ext cx="25146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sz="850">
                <a:solidFill>
                  <a:srgbClr val="4A42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mer exceptionnelle, 347 m²</a:t>
            </a:r>
            <a:endParaRPr sz="850"/>
          </a:p>
        </p:txBody>
      </p:sp>
      <p:sp>
        <p:nvSpPr>
          <p:cNvPr id="23" name="Shape 21"/>
          <p:cNvSpPr/>
          <p:nvPr/>
        </p:nvSpPr>
        <p:spPr>
          <a:xfrm>
            <a:off x="3063240" y="2843784"/>
            <a:ext cx="2969466" cy="178308"/>
          </a:xfrm>
          <a:prstGeom prst="rect">
            <a:avLst/>
          </a:prstGeom>
          <a:solidFill>
            <a:srgbClr val="2064C0"/>
          </a:solidFill>
          <a:ln w="12700">
            <a:solidFill>
              <a:srgbClr val="2064C0"/>
            </a:solidFill>
            <a:prstDash val="solid"/>
          </a:ln>
        </p:spPr>
      </p:sp>
      <p:sp>
        <p:nvSpPr>
          <p:cNvPr id="24" name=""/>
          <p:cNvSpPr txBox="1"/>
          <p:nvPr/>
        </p:nvSpPr>
        <p:spPr>
          <a:xfrm>
            <a:off x="6096714" y="2830068"/>
            <a:ext cx="749808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sz="85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16 398 €</a:t>
            </a:r>
            <a:endParaRPr sz="850"/>
          </a:p>
        </p:txBody>
      </p:sp>
      <p:sp>
        <p:nvSpPr>
          <p:cNvPr id="25" name=""/>
          <p:cNvSpPr txBox="1"/>
          <p:nvPr/>
        </p:nvSpPr>
        <p:spPr>
          <a:xfrm>
            <a:off x="457200" y="3099816"/>
            <a:ext cx="25146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sz="850">
                <a:solidFill>
                  <a:srgbClr val="4A42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 de mer, 340 m²</a:t>
            </a:r>
            <a:endParaRPr sz="850"/>
          </a:p>
        </p:txBody>
      </p:sp>
      <p:sp>
        <p:nvSpPr>
          <p:cNvPr id="26" name="Shape 24"/>
          <p:cNvSpPr/>
          <p:nvPr/>
        </p:nvSpPr>
        <p:spPr>
          <a:xfrm>
            <a:off x="3063240" y="3113532"/>
            <a:ext cx="2929264" cy="178308"/>
          </a:xfrm>
          <a:prstGeom prst="rect">
            <a:avLst/>
          </a:prstGeom>
          <a:solidFill>
            <a:srgbClr val="2064C0"/>
          </a:solidFill>
          <a:ln w="12700">
            <a:solidFill>
              <a:srgbClr val="2064C0"/>
            </a:solidFill>
            <a:prstDash val="solid"/>
          </a:ln>
        </p:spPr>
      </p:sp>
      <p:sp>
        <p:nvSpPr>
          <p:cNvPr id="27" name=""/>
          <p:cNvSpPr txBox="1"/>
          <p:nvPr/>
        </p:nvSpPr>
        <p:spPr>
          <a:xfrm>
            <a:off x="6056512" y="3099816"/>
            <a:ext cx="749808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sz="85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16 176 €</a:t>
            </a:r>
            <a:endParaRPr sz="850"/>
          </a:p>
        </p:txBody>
      </p:sp>
      <p:sp>
        <p:nvSpPr>
          <p:cNvPr id="28" name=""/>
          <p:cNvSpPr txBox="1"/>
          <p:nvPr/>
        </p:nvSpPr>
        <p:spPr>
          <a:xfrm>
            <a:off x="457200" y="3369564"/>
            <a:ext cx="25146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sz="850">
                <a:solidFill>
                  <a:srgbClr val="4A42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Provençale, 350 m²</a:t>
            </a:r>
            <a:endParaRPr sz="850"/>
          </a:p>
        </p:txBody>
      </p:sp>
      <p:sp>
        <p:nvSpPr>
          <p:cNvPr id="29" name="Shape 27"/>
          <p:cNvSpPr/>
          <p:nvPr/>
        </p:nvSpPr>
        <p:spPr>
          <a:xfrm>
            <a:off x="3063240" y="3383280"/>
            <a:ext cx="2845602" cy="178308"/>
          </a:xfrm>
          <a:prstGeom prst="rect">
            <a:avLst/>
          </a:prstGeom>
          <a:solidFill>
            <a:srgbClr val="2064C0"/>
          </a:solidFill>
          <a:ln w="12700">
            <a:solidFill>
              <a:srgbClr val="2064C0"/>
            </a:solidFill>
            <a:prstDash val="solid"/>
          </a:ln>
        </p:spPr>
      </p:sp>
      <p:sp>
        <p:nvSpPr>
          <p:cNvPr id="30" name=""/>
          <p:cNvSpPr txBox="1"/>
          <p:nvPr/>
        </p:nvSpPr>
        <p:spPr>
          <a:xfrm>
            <a:off x="5972850" y="3369564"/>
            <a:ext cx="749808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sz="85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15 714 €</a:t>
            </a:r>
            <a:endParaRPr sz="850"/>
          </a:p>
        </p:txBody>
      </p:sp>
      <p:sp>
        <p:nvSpPr>
          <p:cNvPr id="31" name=""/>
          <p:cNvSpPr txBox="1"/>
          <p:nvPr/>
        </p:nvSpPr>
        <p:spPr>
          <a:xfrm>
            <a:off x="457200" y="3639312"/>
            <a:ext cx="25146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sz="850">
                <a:solidFill>
                  <a:srgbClr val="4A42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mer, 350 m²</a:t>
            </a:r>
            <a:endParaRPr sz="850"/>
          </a:p>
        </p:txBody>
      </p:sp>
      <p:sp>
        <p:nvSpPr>
          <p:cNvPr id="32" name="Shape 30"/>
          <p:cNvSpPr/>
          <p:nvPr/>
        </p:nvSpPr>
        <p:spPr>
          <a:xfrm>
            <a:off x="3063240" y="3653028"/>
            <a:ext cx="2690410" cy="178308"/>
          </a:xfrm>
          <a:prstGeom prst="rect">
            <a:avLst/>
          </a:prstGeom>
          <a:solidFill>
            <a:srgbClr val="2064C0"/>
          </a:solidFill>
          <a:ln w="12700">
            <a:solidFill>
              <a:srgbClr val="2064C0"/>
            </a:solidFill>
            <a:prstDash val="solid"/>
          </a:ln>
        </p:spPr>
      </p:sp>
      <p:sp>
        <p:nvSpPr>
          <p:cNvPr id="33" name=""/>
          <p:cNvSpPr txBox="1"/>
          <p:nvPr/>
        </p:nvSpPr>
        <p:spPr>
          <a:xfrm>
            <a:off x="5817658" y="3639312"/>
            <a:ext cx="749808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sz="85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14 857 €</a:t>
            </a:r>
            <a:endParaRPr sz="850"/>
          </a:p>
        </p:txBody>
      </p:sp>
      <p:sp>
        <p:nvSpPr>
          <p:cNvPr id="34" name=""/>
          <p:cNvSpPr txBox="1"/>
          <p:nvPr/>
        </p:nvSpPr>
        <p:spPr>
          <a:xfrm>
            <a:off x="457200" y="3909060"/>
            <a:ext cx="25146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sz="850">
                <a:solidFill>
                  <a:srgbClr val="4A42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vue mer, 400 m²</a:t>
            </a:r>
            <a:endParaRPr sz="850"/>
          </a:p>
        </p:txBody>
      </p:sp>
      <p:sp>
        <p:nvSpPr>
          <p:cNvPr id="35" name="Shape 33"/>
          <p:cNvSpPr/>
          <p:nvPr/>
        </p:nvSpPr>
        <p:spPr>
          <a:xfrm>
            <a:off x="3063240" y="3922776"/>
            <a:ext cx="1924050" cy="178308"/>
          </a:xfrm>
          <a:prstGeom prst="rect">
            <a:avLst/>
          </a:prstGeom>
          <a:solidFill>
            <a:srgbClr val="B03024"/>
          </a:solidFill>
          <a:ln w="12700">
            <a:solidFill>
              <a:srgbClr val="B03024"/>
            </a:solidFill>
            <a:prstDash val="solid"/>
          </a:ln>
        </p:spPr>
      </p:sp>
      <p:sp>
        <p:nvSpPr>
          <p:cNvPr id="36" name=""/>
          <p:cNvSpPr txBox="1"/>
          <p:nvPr/>
        </p:nvSpPr>
        <p:spPr>
          <a:xfrm>
            <a:off x="5051298" y="3909060"/>
            <a:ext cx="749808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sz="85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10 625 €</a:t>
            </a:r>
            <a:endParaRPr sz="850"/>
          </a:p>
        </p:txBody>
      </p:sp>
      <p:sp>
        <p:nvSpPr>
          <p:cNvPr id="37" name=""/>
          <p:cNvSpPr txBox="1"/>
          <p:nvPr/>
        </p:nvSpPr>
        <p:spPr>
          <a:xfrm>
            <a:off x="457200" y="466801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sz="850" i="1">
                <a:solidFill>
                  <a:srgbClr val="8E8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 affichés relevés en septembre 2026, non des prix de vente — à re-sourcer et horodater avant remise à un tiers. Bronze : neuf et contemporain · bleu : ancien et rénové · rouge : standard.</a:t>
            </a:r>
            <a:endParaRPr sz="85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457200" y="31089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000" b="1" spc="200" kern="0">
                <a:solidFill>
                  <a:srgbClr val="8A5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 · MÉTHODE 2 — COMPARABLES D'OFFRE</a:t>
            </a:r>
            <a:endParaRPr sz="1000"/>
          </a:p>
        </p:txBody>
      </p:sp>
      <p:sp>
        <p:nvSpPr>
          <p:cNvPr id="3" name=""/>
          <p:cNvSpPr txBox="1"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sz="2800">
                <a:solidFill>
                  <a:srgbClr val="1E1A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bien est au centre de son segment</a:t>
            </a:r>
            <a:endParaRPr sz="280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846320" cy="237744"/>
          </a:xfrm>
          <a:prstGeom prst="rect">
            <a:avLst/>
          </a:prstGeom>
          <a:solidFill>
            <a:srgbClr val="EFEBE2"/>
          </a:solidFill>
          <a:ln w="12700">
            <a:solidFill>
              <a:srgbClr val="EFEBE2"/>
            </a:solidFill>
            <a:prstDash val="solid"/>
          </a:ln>
        </p:spPr>
      </p:sp>
      <p:sp>
        <p:nvSpPr>
          <p:cNvPr id="5" name=""/>
          <p:cNvSpPr txBox="1"/>
          <p:nvPr/>
        </p:nvSpPr>
        <p:spPr>
          <a:xfrm>
            <a:off x="539496" y="1216152"/>
            <a:ext cx="2304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sz="850" b="1" spc="90" kern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COMPARABLE NEUF</a:t>
            </a:r>
            <a:endParaRPr sz="850"/>
          </a:p>
        </p:txBody>
      </p:sp>
      <p:sp>
        <p:nvSpPr>
          <p:cNvPr id="6" name=""/>
          <p:cNvSpPr txBox="1"/>
          <p:nvPr/>
        </p:nvSpPr>
        <p:spPr>
          <a:xfrm>
            <a:off x="3008376" y="1216152"/>
            <a:ext cx="9784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sz="850" b="1" spc="90" kern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€/M²</a:t>
            </a:r>
            <a:endParaRPr sz="850"/>
          </a:p>
        </p:txBody>
      </p:sp>
      <p:sp>
        <p:nvSpPr>
          <p:cNvPr id="7" name=""/>
          <p:cNvSpPr txBox="1"/>
          <p:nvPr/>
        </p:nvSpPr>
        <p:spPr>
          <a:xfrm>
            <a:off x="4151376" y="1216152"/>
            <a:ext cx="10698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sz="850" b="1" spc="90" kern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ÉCART DU BIEN</a:t>
            </a:r>
            <a:endParaRPr sz="850"/>
          </a:p>
        </p:txBody>
      </p:sp>
      <p:sp>
        <p:nvSpPr>
          <p:cNvPr id="8" name="Shape 6"/>
          <p:cNvSpPr/>
          <p:nvPr/>
        </p:nvSpPr>
        <p:spPr>
          <a:xfrm>
            <a:off x="457200" y="1700784"/>
            <a:ext cx="4846320" cy="0"/>
          </a:xfrm>
          <a:prstGeom prst="line">
            <a:avLst/>
          </a:prstGeom>
          <a:noFill/>
          <a:ln w="6350">
            <a:solidFill>
              <a:srgbClr val="E2DCCF"/>
            </a:solidFill>
            <a:prstDash val="solid"/>
          </a:ln>
        </p:spPr>
      </p:sp>
      <p:sp>
        <p:nvSpPr>
          <p:cNvPr id="9" name=""/>
          <p:cNvSpPr txBox="1"/>
          <p:nvPr/>
        </p:nvSpPr>
        <p:spPr>
          <a:xfrm>
            <a:off x="539496" y="1467612"/>
            <a:ext cx="2304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sz="950">
                <a:solidFill>
                  <a:srgbClr val="3D3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Contemporaine vue mer, 295 m²</a:t>
            </a:r>
            <a:endParaRPr sz="950"/>
          </a:p>
        </p:txBody>
      </p:sp>
      <p:sp>
        <p:nvSpPr>
          <p:cNvPr id="10" name=""/>
          <p:cNvSpPr txBox="1"/>
          <p:nvPr/>
        </p:nvSpPr>
        <p:spPr>
          <a:xfrm>
            <a:off x="3008376" y="1467612"/>
            <a:ext cx="978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sz="950">
                <a:solidFill>
                  <a:srgbClr val="3D3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23 390 €</a:t>
            </a:r>
            <a:endParaRPr sz="950"/>
          </a:p>
        </p:txBody>
      </p:sp>
      <p:sp>
        <p:nvSpPr>
          <p:cNvPr id="11" name=""/>
          <p:cNvSpPr txBox="1"/>
          <p:nvPr/>
        </p:nvSpPr>
        <p:spPr>
          <a:xfrm>
            <a:off x="4151376" y="1467612"/>
            <a:ext cx="1069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sz="950">
                <a:solidFill>
                  <a:srgbClr val="3D3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− 14,5 %</a:t>
            </a:r>
            <a:endParaRPr sz="950"/>
          </a:p>
        </p:txBody>
      </p:sp>
      <p:sp>
        <p:nvSpPr>
          <p:cNvPr id="12" name="Shape 10"/>
          <p:cNvSpPr/>
          <p:nvPr/>
        </p:nvSpPr>
        <p:spPr>
          <a:xfrm>
            <a:off x="457200" y="1700784"/>
            <a:ext cx="4846320" cy="274320"/>
          </a:xfrm>
          <a:prstGeom prst="rect">
            <a:avLst/>
          </a:prstGeom>
          <a:solidFill>
            <a:srgbClr val="F6EFE0"/>
          </a:solidFill>
          <a:ln w="12700">
            <a:solidFill>
              <a:srgbClr val="F6EF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1975104"/>
            <a:ext cx="4846320" cy="0"/>
          </a:xfrm>
          <a:prstGeom prst="line">
            <a:avLst/>
          </a:prstGeom>
          <a:noFill/>
          <a:ln w="6350">
            <a:solidFill>
              <a:srgbClr val="E2DCCF"/>
            </a:solidFill>
            <a:prstDash val="solid"/>
          </a:ln>
        </p:spPr>
      </p:sp>
      <p:sp>
        <p:nvSpPr>
          <p:cNvPr id="14" name=""/>
          <p:cNvSpPr txBox="1"/>
          <p:nvPr/>
        </p:nvSpPr>
        <p:spPr>
          <a:xfrm>
            <a:off x="539496" y="1741932"/>
            <a:ext cx="2304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sz="950" b="1">
                <a:solidFill>
                  <a:srgbClr val="1E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Villa neuve centre-ville, 320 m²</a:t>
            </a:r>
            <a:endParaRPr sz="950"/>
          </a:p>
        </p:txBody>
      </p:sp>
      <p:sp>
        <p:nvSpPr>
          <p:cNvPr id="15" name=""/>
          <p:cNvSpPr txBox="1"/>
          <p:nvPr/>
        </p:nvSpPr>
        <p:spPr>
          <a:xfrm>
            <a:off x="3008376" y="1741932"/>
            <a:ext cx="978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sz="950" b="1">
                <a:solidFill>
                  <a:srgbClr val="1E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19 688 €</a:t>
            </a:r>
            <a:endParaRPr sz="950"/>
          </a:p>
        </p:txBody>
      </p:sp>
      <p:sp>
        <p:nvSpPr>
          <p:cNvPr id="16" name=""/>
          <p:cNvSpPr txBox="1"/>
          <p:nvPr/>
        </p:nvSpPr>
        <p:spPr>
          <a:xfrm>
            <a:off x="4151376" y="1741932"/>
            <a:ext cx="1069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sz="950" b="1">
                <a:solidFill>
                  <a:srgbClr val="1E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+ 1,6 %</a:t>
            </a:r>
            <a:endParaRPr sz="950"/>
          </a:p>
        </p:txBody>
      </p:sp>
      <p:sp>
        <p:nvSpPr>
          <p:cNvPr id="17" name="Shape 15"/>
          <p:cNvSpPr/>
          <p:nvPr/>
        </p:nvSpPr>
        <p:spPr>
          <a:xfrm>
            <a:off x="457200" y="2249424"/>
            <a:ext cx="4846320" cy="0"/>
          </a:xfrm>
          <a:prstGeom prst="line">
            <a:avLst/>
          </a:prstGeom>
          <a:noFill/>
          <a:ln w="6350">
            <a:solidFill>
              <a:srgbClr val="E2DCCF"/>
            </a:solidFill>
            <a:prstDash val="solid"/>
          </a:ln>
        </p:spPr>
      </p:sp>
      <p:sp>
        <p:nvSpPr>
          <p:cNvPr id="18" name=""/>
          <p:cNvSpPr txBox="1"/>
          <p:nvPr/>
        </p:nvSpPr>
        <p:spPr>
          <a:xfrm>
            <a:off x="539496" y="2016252"/>
            <a:ext cx="2304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sz="950">
                <a:solidFill>
                  <a:srgbClr val="3D3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Contemporaine neuve, 264 m²</a:t>
            </a:r>
            <a:endParaRPr sz="950"/>
          </a:p>
        </p:txBody>
      </p:sp>
      <p:sp>
        <p:nvSpPr>
          <p:cNvPr id="19" name=""/>
          <p:cNvSpPr txBox="1"/>
          <p:nvPr/>
        </p:nvSpPr>
        <p:spPr>
          <a:xfrm>
            <a:off x="3008376" y="2016252"/>
            <a:ext cx="978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sz="950">
                <a:solidFill>
                  <a:srgbClr val="3D3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18 182 €</a:t>
            </a:r>
            <a:endParaRPr sz="950"/>
          </a:p>
        </p:txBody>
      </p:sp>
      <p:sp>
        <p:nvSpPr>
          <p:cNvPr id="20" name=""/>
          <p:cNvSpPr txBox="1"/>
          <p:nvPr/>
        </p:nvSpPr>
        <p:spPr>
          <a:xfrm>
            <a:off x="4151376" y="2016252"/>
            <a:ext cx="1069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sz="950">
                <a:solidFill>
                  <a:srgbClr val="3D3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+ 10,0 %</a:t>
            </a:r>
            <a:endParaRPr sz="950"/>
          </a:p>
        </p:txBody>
      </p:sp>
      <p:sp>
        <p:nvSpPr>
          <p:cNvPr id="21" name="Shape 19"/>
          <p:cNvSpPr/>
          <p:nvPr/>
        </p:nvSpPr>
        <p:spPr>
          <a:xfrm>
            <a:off x="457200" y="2523744"/>
            <a:ext cx="4846320" cy="0"/>
          </a:xfrm>
          <a:prstGeom prst="line">
            <a:avLst/>
          </a:prstGeom>
          <a:noFill/>
          <a:ln w="6350">
            <a:solidFill>
              <a:srgbClr val="E2DCCF"/>
            </a:solidFill>
            <a:prstDash val="solid"/>
          </a:ln>
        </p:spPr>
      </p:sp>
      <p:sp>
        <p:nvSpPr>
          <p:cNvPr id="22" name=""/>
          <p:cNvSpPr txBox="1"/>
          <p:nvPr/>
        </p:nvSpPr>
        <p:spPr>
          <a:xfrm>
            <a:off x="539496" y="2290572"/>
            <a:ext cx="2304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sz="950">
                <a:solidFill>
                  <a:srgbClr val="3D3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Surplombant la mer, 358 m²</a:t>
            </a:r>
            <a:endParaRPr sz="950"/>
          </a:p>
        </p:txBody>
      </p:sp>
      <p:sp>
        <p:nvSpPr>
          <p:cNvPr id="23" name=""/>
          <p:cNvSpPr txBox="1"/>
          <p:nvPr/>
        </p:nvSpPr>
        <p:spPr>
          <a:xfrm>
            <a:off x="3008376" y="2290572"/>
            <a:ext cx="978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sz="950">
                <a:solidFill>
                  <a:srgbClr val="3D3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18 156 €</a:t>
            </a:r>
            <a:endParaRPr sz="950"/>
          </a:p>
        </p:txBody>
      </p:sp>
      <p:sp>
        <p:nvSpPr>
          <p:cNvPr id="24" name=""/>
          <p:cNvSpPr txBox="1"/>
          <p:nvPr/>
        </p:nvSpPr>
        <p:spPr>
          <a:xfrm>
            <a:off x="4151376" y="2290572"/>
            <a:ext cx="1069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sz="950">
                <a:solidFill>
                  <a:srgbClr val="3D3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+ 10,2 %</a:t>
            </a:r>
            <a:endParaRPr sz="950"/>
          </a:p>
        </p:txBody>
      </p:sp>
      <p:sp>
        <p:nvSpPr>
          <p:cNvPr id="25" name="Shape 23"/>
          <p:cNvSpPr/>
          <p:nvPr/>
        </p:nvSpPr>
        <p:spPr>
          <a:xfrm>
            <a:off x="5577840" y="1188720"/>
            <a:ext cx="3108960" cy="1005840"/>
          </a:xfrm>
          <a:prstGeom prst="rect">
            <a:avLst/>
          </a:prstGeom>
          <a:solidFill>
            <a:srgbClr val="EFEBE2"/>
          </a:solidFill>
          <a:ln w="12700">
            <a:solidFill>
              <a:srgbClr val="EFEBE2"/>
            </a:solidFill>
            <a:prstDash val="solid"/>
          </a:ln>
        </p:spPr>
      </p:sp>
      <p:sp>
        <p:nvSpPr>
          <p:cNvPr id="26" name=""/>
          <p:cNvSpPr txBox="1"/>
          <p:nvPr/>
        </p:nvSpPr>
        <p:spPr>
          <a:xfrm>
            <a:off x="5724144" y="1307592"/>
            <a:ext cx="2816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sz="850" b="1" spc="110" kern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MOYENNE DU SEGMENT NEUF</a:t>
            </a:r>
            <a:endParaRPr sz="850"/>
          </a:p>
        </p:txBody>
      </p:sp>
      <p:sp>
        <p:nvSpPr>
          <p:cNvPr id="27" name=""/>
          <p:cNvSpPr txBox="1"/>
          <p:nvPr/>
        </p:nvSpPr>
        <p:spPr>
          <a:xfrm>
            <a:off x="5724144" y="1609344"/>
            <a:ext cx="2816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sz="1900">
                <a:solidFill>
                  <a:srgbClr val="8A5A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19 854 €/m²</a:t>
            </a:r>
            <a:endParaRPr sz="1900"/>
          </a:p>
        </p:txBody>
      </p:sp>
      <p:sp>
        <p:nvSpPr>
          <p:cNvPr id="28" name=""/>
          <p:cNvSpPr txBox="1"/>
          <p:nvPr/>
        </p:nvSpPr>
        <p:spPr>
          <a:xfrm>
            <a:off x="5724144" y="1938528"/>
            <a:ext cx="2816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sz="90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prix visé s'en écarte de 0,7 %</a:t>
            </a:r>
            <a:endParaRPr sz="900"/>
          </a:p>
        </p:txBody>
      </p:sp>
      <p:sp>
        <p:nvSpPr>
          <p:cNvPr id="29" name="Shape 27"/>
          <p:cNvSpPr/>
          <p:nvPr/>
        </p:nvSpPr>
        <p:spPr>
          <a:xfrm>
            <a:off x="5577840" y="2304288"/>
            <a:ext cx="3108960" cy="1005840"/>
          </a:xfrm>
          <a:prstGeom prst="rect">
            <a:avLst/>
          </a:prstGeom>
          <a:solidFill>
            <a:srgbClr val="EFEBE2"/>
          </a:solidFill>
          <a:ln w="12700">
            <a:solidFill>
              <a:srgbClr val="EFEBE2"/>
            </a:solidFill>
            <a:prstDash val="solid"/>
          </a:ln>
        </p:spPr>
      </p:sp>
      <p:sp>
        <p:nvSpPr>
          <p:cNvPr id="30" name=""/>
          <p:cNvSpPr txBox="1"/>
          <p:nvPr/>
        </p:nvSpPr>
        <p:spPr>
          <a:xfrm>
            <a:off x="5724144" y="2423160"/>
            <a:ext cx="2816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sz="850" b="1" spc="110" kern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MÉDIANE DU SEGMENT NEUF</a:t>
            </a:r>
            <a:endParaRPr sz="850"/>
          </a:p>
        </p:txBody>
      </p:sp>
      <p:sp>
        <p:nvSpPr>
          <p:cNvPr id="31" name=""/>
          <p:cNvSpPr txBox="1"/>
          <p:nvPr/>
        </p:nvSpPr>
        <p:spPr>
          <a:xfrm>
            <a:off x="5724144" y="2724912"/>
            <a:ext cx="2816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sz="1900">
                <a:solidFill>
                  <a:srgbClr val="8A5A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18 935 €/m²</a:t>
            </a:r>
            <a:endParaRPr sz="1900"/>
          </a:p>
        </p:txBody>
      </p:sp>
      <p:sp>
        <p:nvSpPr>
          <p:cNvPr id="32" name=""/>
          <p:cNvSpPr txBox="1"/>
          <p:nvPr/>
        </p:nvSpPr>
        <p:spPr>
          <a:xfrm>
            <a:off x="5724144" y="3054096"/>
            <a:ext cx="2816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sz="90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Borne haute du plancher de négociation</a:t>
            </a:r>
            <a:endParaRPr sz="900"/>
          </a:p>
        </p:txBody>
      </p:sp>
      <p:sp>
        <p:nvSpPr>
          <p:cNvPr id="33" name="Shape 31"/>
          <p:cNvSpPr/>
          <p:nvPr/>
        </p:nvSpPr>
        <p:spPr>
          <a:xfrm>
            <a:off x="457200" y="2651760"/>
            <a:ext cx="4846320" cy="1536192"/>
          </a:xfrm>
          <a:prstGeom prst="rect">
            <a:avLst/>
          </a:prstGeom>
          <a:solidFill>
            <a:srgbClr val="1C1811"/>
          </a:solidFill>
          <a:ln w="12700">
            <a:solidFill>
              <a:srgbClr val="1C1811"/>
            </a:solidFill>
            <a:prstDash val="solid"/>
          </a:ln>
        </p:spPr>
      </p:sp>
      <p:sp>
        <p:nvSpPr>
          <p:cNvPr id="34" name=""/>
          <p:cNvSpPr txBox="1"/>
          <p:nvPr/>
        </p:nvSpPr>
        <p:spPr>
          <a:xfrm>
            <a:off x="658368" y="2779776"/>
            <a:ext cx="4443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150" b="1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L'effet de taille ne joue pas ici</a:t>
            </a:r>
            <a:endParaRPr sz="1150"/>
          </a:p>
        </p:txBody>
      </p:sp>
      <p:sp>
        <p:nvSpPr>
          <p:cNvPr id="35" name=""/>
          <p:cNvSpPr txBox="1"/>
          <p:nvPr/>
        </p:nvSpPr>
        <p:spPr>
          <a:xfrm>
            <a:off x="658368" y="3090672"/>
            <a:ext cx="4443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sz="1000">
                <a:solidFill>
                  <a:srgbClr val="CFC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les quatre comparables neufs, de 264 à 358 m², le €/m² ne suit aucune tendance de surface : R² = 0,04. Le plus cher au m² n'est pas le plus petit, le moins cher n'est pas le plus grand. L'objection « plus grand donc moins cher au m² » n'a aucun appui local.</a:t>
            </a:r>
            <a:endParaRPr sz="1000"/>
          </a:p>
        </p:txBody>
      </p:sp>
      <p:sp>
        <p:nvSpPr>
          <p:cNvPr id="36" name="Shape 34"/>
          <p:cNvSpPr/>
          <p:nvPr/>
        </p:nvSpPr>
        <p:spPr>
          <a:xfrm>
            <a:off x="5577840" y="3419856"/>
            <a:ext cx="3108960" cy="768096"/>
          </a:xfrm>
          <a:prstGeom prst="rect">
            <a:avLst/>
          </a:prstGeom>
          <a:solidFill>
            <a:srgbClr val="F6E9E7"/>
          </a:solidFill>
          <a:ln w="12700">
            <a:solidFill>
              <a:srgbClr val="F6E9E7"/>
            </a:solidFill>
            <a:prstDash val="solid"/>
          </a:ln>
        </p:spPr>
      </p:sp>
      <p:sp>
        <p:nvSpPr>
          <p:cNvPr id="37" name=""/>
          <p:cNvSpPr txBox="1"/>
          <p:nvPr/>
        </p:nvSpPr>
        <p:spPr>
          <a:xfrm>
            <a:off x="5742432" y="3529584"/>
            <a:ext cx="27797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sz="900">
                <a:solidFill>
                  <a:srgbClr val="6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limite honnête : l'extrapolation du prix total des mêmes comparables à 421,82 m² donne 7 764 000 € (R² = 0,40). C'est ce qui fonde le plancher, pas le prix de présentation.</a:t>
            </a:r>
            <a:endParaRPr sz="9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457200" y="31089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000" b="1" spc="200" kern="0">
                <a:solidFill>
                  <a:srgbClr val="8A5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 · MÉTHODE 3 — PRIME DU NEUF</a:t>
            </a:r>
            <a:endParaRPr sz="1000"/>
          </a:p>
        </p:txBody>
      </p:sp>
      <p:sp>
        <p:nvSpPr>
          <p:cNvPr id="3" name=""/>
          <p:cNvSpPr txBox="1"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sz="2800">
                <a:solidFill>
                  <a:srgbClr val="1E1A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prime du neuf, mesurée sur ce marché</a:t>
            </a:r>
            <a:endParaRPr sz="2800"/>
          </a:p>
        </p:txBody>
      </p:sp>
      <p:sp>
        <p:nvSpPr>
          <p:cNvPr id="4" name="Shape 2"/>
          <p:cNvSpPr/>
          <p:nvPr/>
        </p:nvSpPr>
        <p:spPr>
          <a:xfrm>
            <a:off x="868680" y="1572768"/>
            <a:ext cx="868680" cy="1828800"/>
          </a:xfrm>
          <a:prstGeom prst="rect">
            <a:avLst/>
          </a:prstGeom>
          <a:solidFill>
            <a:srgbClr val="BE7B12"/>
          </a:solidFill>
          <a:ln w="12700">
            <a:solidFill>
              <a:srgbClr val="BE7B12"/>
            </a:solidFill>
            <a:prstDash val="solid"/>
          </a:ln>
        </p:spPr>
      </p:sp>
      <p:sp>
        <p:nvSpPr>
          <p:cNvPr id="5" name=""/>
          <p:cNvSpPr txBox="1"/>
          <p:nvPr/>
        </p:nvSpPr>
        <p:spPr>
          <a:xfrm>
            <a:off x="731520" y="1316736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sz="1000" b="1">
                <a:solidFill>
                  <a:srgbClr val="1E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19 854 €</a:t>
            </a:r>
            <a:endParaRPr sz="1000"/>
          </a:p>
        </p:txBody>
      </p:sp>
      <p:sp>
        <p:nvSpPr>
          <p:cNvPr id="6" name=""/>
          <p:cNvSpPr txBox="1"/>
          <p:nvPr/>
        </p:nvSpPr>
        <p:spPr>
          <a:xfrm>
            <a:off x="667512" y="3465576"/>
            <a:ext cx="1271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sz="900">
                <a:solidFill>
                  <a:srgbClr val="4A42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Neuf et contemporain</a:t>
            </a:r>
            <a:endParaRPr sz="900"/>
          </a:p>
        </p:txBody>
      </p:sp>
      <p:sp>
        <p:nvSpPr>
          <p:cNvPr id="7" name="Shape 5"/>
          <p:cNvSpPr/>
          <p:nvPr/>
        </p:nvSpPr>
        <p:spPr>
          <a:xfrm>
            <a:off x="2304288" y="1910176"/>
            <a:ext cx="868680" cy="1491392"/>
          </a:xfrm>
          <a:prstGeom prst="rect">
            <a:avLst/>
          </a:prstGeom>
          <a:solidFill>
            <a:srgbClr val="2064C0"/>
          </a:solidFill>
          <a:ln w="12700">
            <a:solidFill>
              <a:srgbClr val="2064C0"/>
            </a:solidFill>
            <a:prstDash val="solid"/>
          </a:ln>
        </p:spPr>
      </p:sp>
      <p:sp>
        <p:nvSpPr>
          <p:cNvPr id="8" name=""/>
          <p:cNvSpPr txBox="1"/>
          <p:nvPr/>
        </p:nvSpPr>
        <p:spPr>
          <a:xfrm>
            <a:off x="2167128" y="1654144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sz="1000" b="1">
                <a:solidFill>
                  <a:srgbClr val="1E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16 191 €</a:t>
            </a:r>
            <a:endParaRPr sz="1000"/>
          </a:p>
        </p:txBody>
      </p:sp>
      <p:sp>
        <p:nvSpPr>
          <p:cNvPr id="9" name=""/>
          <p:cNvSpPr txBox="1"/>
          <p:nvPr/>
        </p:nvSpPr>
        <p:spPr>
          <a:xfrm>
            <a:off x="2103120" y="3465576"/>
            <a:ext cx="1271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sz="900">
                <a:solidFill>
                  <a:srgbClr val="4A42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Ancien et rénové</a:t>
            </a:r>
            <a:endParaRPr sz="900"/>
          </a:p>
        </p:txBody>
      </p:sp>
      <p:sp>
        <p:nvSpPr>
          <p:cNvPr id="10" name="Shape 8"/>
          <p:cNvSpPr/>
          <p:nvPr/>
        </p:nvSpPr>
        <p:spPr>
          <a:xfrm>
            <a:off x="3739896" y="2422874"/>
            <a:ext cx="868680" cy="978694"/>
          </a:xfrm>
          <a:prstGeom prst="rect">
            <a:avLst/>
          </a:prstGeom>
          <a:solidFill>
            <a:srgbClr val="B03024"/>
          </a:solidFill>
          <a:ln w="12700">
            <a:solidFill>
              <a:srgbClr val="B03024"/>
            </a:solidFill>
            <a:prstDash val="solid"/>
          </a:ln>
        </p:spPr>
      </p:sp>
      <p:sp>
        <p:nvSpPr>
          <p:cNvPr id="11" name=""/>
          <p:cNvSpPr txBox="1"/>
          <p:nvPr/>
        </p:nvSpPr>
        <p:spPr>
          <a:xfrm>
            <a:off x="3602736" y="2166842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sz="1000" b="1">
                <a:solidFill>
                  <a:srgbClr val="1E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10 625 €</a:t>
            </a:r>
            <a:endParaRPr sz="1000"/>
          </a:p>
        </p:txBody>
      </p:sp>
      <p:sp>
        <p:nvSpPr>
          <p:cNvPr id="12" name=""/>
          <p:cNvSpPr txBox="1"/>
          <p:nvPr/>
        </p:nvSpPr>
        <p:spPr>
          <a:xfrm>
            <a:off x="3538728" y="3465576"/>
            <a:ext cx="1271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sz="900">
                <a:solidFill>
                  <a:srgbClr val="4A42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vue mer</a:t>
            </a:r>
            <a:endParaRPr sz="900"/>
          </a:p>
        </p:txBody>
      </p:sp>
      <p:sp>
        <p:nvSpPr>
          <p:cNvPr id="13" name=""/>
          <p:cNvSpPr txBox="1"/>
          <p:nvPr/>
        </p:nvSpPr>
        <p:spPr>
          <a:xfrm>
            <a:off x="4846320" y="1225296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4000">
                <a:solidFill>
                  <a:srgbClr val="8A5A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+ 22,6 %</a:t>
            </a:r>
            <a:endParaRPr sz="4000"/>
          </a:p>
        </p:txBody>
      </p:sp>
      <p:sp>
        <p:nvSpPr>
          <p:cNvPr id="14" name=""/>
          <p:cNvSpPr txBox="1"/>
          <p:nvPr/>
        </p:nvSpPr>
        <p:spPr>
          <a:xfrm>
            <a:off x="4846320" y="192024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sz="110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d'écart entre le segment neuf-contemporain et le segment ancien-rénové, à situation et surface comparables. Cette prime n'est pas une opinion : elle se lit dans les prix pratiqués sur la commune.</a:t>
            </a:r>
            <a:endParaRPr sz="1100"/>
          </a:p>
        </p:txBody>
      </p:sp>
      <p:sp>
        <p:nvSpPr>
          <p:cNvPr id="15" name=""/>
          <p:cNvSpPr txBox="1"/>
          <p:nvPr/>
        </p:nvSpPr>
        <p:spPr>
          <a:xfrm>
            <a:off x="4846320" y="2743200"/>
            <a:ext cx="3840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300"/>
              </a:lnSpc>
              <a:spcAft>
                <a:spcPts val="500"/>
              </a:spcAft>
              <a:buSzPct val="100000"/>
              <a:buChar char="•"/>
            </a:pPr>
            <a:r>
              <a:rPr sz="1000">
                <a:solidFill>
                  <a:srgbClr val="1E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Garanties décennale, dommages-ouvrage et parfait achèvement · RE2020</a:t>
            </a:r>
            <a:endParaRPr sz="1000"/>
          </a:p>
          <a:p>
            <a:pPr marL="342900" indent="-342900">
              <a:lnSpc>
                <a:spcPts val="1300"/>
              </a:lnSpc>
              <a:spcAft>
                <a:spcPts val="500"/>
              </a:spcAft>
              <a:buSzPct val="100000"/>
              <a:buChar char="•"/>
            </a:pPr>
            <a:r>
              <a:rPr sz="1000">
                <a:solidFill>
                  <a:srgbClr val="1E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Livrée meublée et décorée — actif exploitable dès la remise des clés</a:t>
            </a:r>
            <a:endParaRPr sz="1000"/>
          </a:p>
          <a:p>
            <a:pPr marL="342900" indent="-342900">
              <a:lnSpc>
                <a:spcPts val="1300"/>
              </a:lnSpc>
              <a:spcAft>
                <a:spcPts val="500"/>
              </a:spcAft>
              <a:buSzPct val="100000"/>
              <a:buChar char="•"/>
            </a:pPr>
            <a:r>
              <a:rPr sz="1000">
                <a:solidFill>
                  <a:srgbClr val="1E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Quatre suites de standard hôtelier, dressings sur mesure</a:t>
            </a:r>
            <a:endParaRPr sz="1000"/>
          </a:p>
          <a:p>
            <a:pPr marL="342900" indent="-342900">
              <a:lnSpc>
                <a:spcPts val="1300"/>
              </a:lnSpc>
              <a:spcAft>
                <a:spcPts val="500"/>
              </a:spcAft>
              <a:buSzPct val="100000"/>
              <a:buChar char="•"/>
            </a:pPr>
            <a:r>
              <a:rPr sz="1000">
                <a:solidFill>
                  <a:srgbClr val="1E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112 m² d'espaces de bien-être et de loisirs</a:t>
            </a:r>
            <a:endParaRPr sz="1000"/>
          </a:p>
          <a:p>
            <a:pPr marL="342900" indent="-342900">
              <a:lnSpc>
                <a:spcPts val="1300"/>
              </a:lnSpc>
              <a:spcAft>
                <a:spcPts val="500"/>
              </a:spcAft>
              <a:buSzPct val="100000"/>
              <a:buChar char="•"/>
            </a:pPr>
            <a:r>
              <a:rPr sz="1000">
                <a:solidFill>
                  <a:srgbClr val="1E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34,52 m² de logistique de réception</a:t>
            </a:r>
            <a:endParaRPr sz="1000"/>
          </a:p>
        </p:txBody>
      </p:sp>
      <p:sp>
        <p:nvSpPr>
          <p:cNvPr id="16" name=""/>
          <p:cNvSpPr txBox="1"/>
          <p:nvPr/>
        </p:nvSpPr>
        <p:spPr>
          <a:xfrm>
            <a:off x="457200" y="466801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sz="850" i="1">
                <a:solidFill>
                  <a:srgbClr val="8E8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travaux à prévoir avant vingt ans.</a:t>
            </a:r>
            <a:endParaRPr sz="85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457200" y="31089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000" b="1" spc="200" kern="0">
                <a:solidFill>
                  <a:srgbClr val="8A5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 · LA TRANCHE 7 – 12 M€</a:t>
            </a:r>
            <a:endParaRPr sz="1000"/>
          </a:p>
        </p:txBody>
      </p:sp>
      <p:sp>
        <p:nvSpPr>
          <p:cNvPr id="3" name=""/>
          <p:cNvSpPr txBox="1"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sz="2800">
                <a:solidFill>
                  <a:srgbClr val="1E1A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À 8,4 M€, le bien change de marché</a:t>
            </a:r>
            <a:endParaRPr sz="280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88336" cy="1060704"/>
          </a:xfrm>
          <a:prstGeom prst="rect">
            <a:avLst/>
          </a:prstGeom>
          <a:solidFill>
            <a:srgbClr val="EFEBE2"/>
          </a:solidFill>
          <a:ln w="12700">
            <a:solidFill>
              <a:srgbClr val="EFEBE2"/>
            </a:solidFill>
            <a:prstDash val="solid"/>
          </a:ln>
        </p:spPr>
      </p:sp>
      <p:sp>
        <p:nvSpPr>
          <p:cNvPr id="5" name=""/>
          <p:cNvSpPr txBox="1"/>
          <p:nvPr/>
        </p:nvSpPr>
        <p:spPr>
          <a:xfrm>
            <a:off x="603504" y="1307592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sz="850" b="1" spc="110" kern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DE LA CÔTE D'AZUR</a:t>
            </a:r>
            <a:endParaRPr sz="850"/>
          </a:p>
        </p:txBody>
      </p:sp>
      <p:sp>
        <p:nvSpPr>
          <p:cNvPr id="6" name=""/>
          <p:cNvSpPr txBox="1"/>
          <p:nvPr/>
        </p:nvSpPr>
        <p:spPr>
          <a:xfrm>
            <a:off x="603504" y="1609344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sz="2000">
                <a:solidFill>
                  <a:srgbClr val="8A5A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40 %</a:t>
            </a:r>
            <a:endParaRPr sz="2000"/>
          </a:p>
        </p:txBody>
      </p:sp>
      <p:sp>
        <p:nvSpPr>
          <p:cNvPr id="7" name=""/>
          <p:cNvSpPr txBox="1"/>
          <p:nvPr/>
        </p:nvSpPr>
        <p:spPr>
          <a:xfrm>
            <a:off x="603504" y="1938528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sz="90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ventes françaises au-delà de 5 M€</a:t>
            </a:r>
            <a:endParaRPr sz="900"/>
          </a:p>
        </p:txBody>
      </p:sp>
      <p:sp>
        <p:nvSpPr>
          <p:cNvPr id="8" name="Shape 6"/>
          <p:cNvSpPr/>
          <p:nvPr/>
        </p:nvSpPr>
        <p:spPr>
          <a:xfrm>
            <a:off x="3319272" y="1188720"/>
            <a:ext cx="2688336" cy="1060704"/>
          </a:xfrm>
          <a:prstGeom prst="rect">
            <a:avLst/>
          </a:prstGeom>
          <a:solidFill>
            <a:srgbClr val="EFEBE2"/>
          </a:solidFill>
          <a:ln w="12700">
            <a:solidFill>
              <a:srgbClr val="EFEBE2"/>
            </a:solidFill>
            <a:prstDash val="solid"/>
          </a:ln>
        </p:spPr>
      </p:sp>
      <p:sp>
        <p:nvSpPr>
          <p:cNvPr id="9" name=""/>
          <p:cNvSpPr txBox="1"/>
          <p:nvPr/>
        </p:nvSpPr>
        <p:spPr>
          <a:xfrm>
            <a:off x="3465576" y="1307592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sz="850" b="1" spc="110" kern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CŒUR DU MARCHÉ TROPÉZIEN</a:t>
            </a:r>
            <a:endParaRPr sz="850"/>
          </a:p>
        </p:txBody>
      </p:sp>
      <p:sp>
        <p:nvSpPr>
          <p:cNvPr id="10" name=""/>
          <p:cNvSpPr txBox="1"/>
          <p:nvPr/>
        </p:nvSpPr>
        <p:spPr>
          <a:xfrm>
            <a:off x="3465576" y="1609344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sz="2000">
                <a:solidFill>
                  <a:srgbClr val="8A5A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– 30 M€</a:t>
            </a:r>
            <a:endParaRPr sz="2000"/>
          </a:p>
        </p:txBody>
      </p:sp>
      <p:sp>
        <p:nvSpPr>
          <p:cNvPr id="11" name=""/>
          <p:cNvSpPr txBox="1"/>
          <p:nvPr/>
        </p:nvSpPr>
        <p:spPr>
          <a:xfrm>
            <a:off x="3465576" y="1938528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sz="90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8,4 M€ y est un point d'entrée</a:t>
            </a:r>
            <a:endParaRPr sz="900"/>
          </a:p>
        </p:txBody>
      </p:sp>
      <p:sp>
        <p:nvSpPr>
          <p:cNvPr id="12" name="Shape 10"/>
          <p:cNvSpPr/>
          <p:nvPr/>
        </p:nvSpPr>
        <p:spPr>
          <a:xfrm>
            <a:off x="6181344" y="1188720"/>
            <a:ext cx="2688336" cy="1060704"/>
          </a:xfrm>
          <a:prstGeom prst="rect">
            <a:avLst/>
          </a:prstGeom>
          <a:solidFill>
            <a:srgbClr val="EFEBE2"/>
          </a:solidFill>
          <a:ln w="12700">
            <a:solidFill>
              <a:srgbClr val="EFEBE2"/>
            </a:solidFill>
            <a:prstDash val="solid"/>
          </a:ln>
        </p:spPr>
      </p:sp>
      <p:sp>
        <p:nvSpPr>
          <p:cNvPr id="13" name=""/>
          <p:cNvSpPr txBox="1"/>
          <p:nvPr/>
        </p:nvSpPr>
        <p:spPr>
          <a:xfrm>
            <a:off x="6327648" y="1307592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sz="850" b="1" spc="110" kern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SUPÉRIEUR À 3 M€</a:t>
            </a:r>
            <a:endParaRPr sz="850"/>
          </a:p>
        </p:txBody>
      </p:sp>
      <p:sp>
        <p:nvSpPr>
          <p:cNvPr id="14" name=""/>
          <p:cNvSpPr txBox="1"/>
          <p:nvPr/>
        </p:nvSpPr>
        <p:spPr>
          <a:xfrm>
            <a:off x="6327648" y="1609344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sz="2000">
                <a:solidFill>
                  <a:srgbClr val="8A5A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+ 54 %</a:t>
            </a:r>
            <a:endParaRPr sz="2000"/>
          </a:p>
        </p:txBody>
      </p:sp>
      <p:sp>
        <p:nvSpPr>
          <p:cNvPr id="15" name=""/>
          <p:cNvSpPr txBox="1"/>
          <p:nvPr/>
        </p:nvSpPr>
        <p:spPr>
          <a:xfrm>
            <a:off x="6327648" y="1938528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sz="90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volume au S1 2026, source Barnes</a:t>
            </a:r>
            <a:endParaRPr sz="900"/>
          </a:p>
        </p:txBody>
      </p:sp>
      <p:sp>
        <p:nvSpPr>
          <p:cNvPr id="16" name="Shape 14"/>
          <p:cNvSpPr/>
          <p:nvPr/>
        </p:nvSpPr>
        <p:spPr>
          <a:xfrm>
            <a:off x="457200" y="2395728"/>
            <a:ext cx="8229600" cy="237744"/>
          </a:xfrm>
          <a:prstGeom prst="rect">
            <a:avLst/>
          </a:prstGeom>
          <a:solidFill>
            <a:srgbClr val="EFEBE2"/>
          </a:solidFill>
          <a:ln w="12700">
            <a:solidFill>
              <a:srgbClr val="EFEBE2"/>
            </a:solidFill>
            <a:prstDash val="solid"/>
          </a:ln>
        </p:spPr>
      </p:sp>
      <p:sp>
        <p:nvSpPr>
          <p:cNvPr id="17" name=""/>
          <p:cNvSpPr txBox="1"/>
          <p:nvPr/>
        </p:nvSpPr>
        <p:spPr>
          <a:xfrm>
            <a:off x="1911096" y="2423160"/>
            <a:ext cx="32644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sz="850" b="1" spc="90" kern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FAVORABLE</a:t>
            </a:r>
            <a:endParaRPr sz="850"/>
          </a:p>
        </p:txBody>
      </p:sp>
      <p:sp>
        <p:nvSpPr>
          <p:cNvPr id="18" name=""/>
          <p:cNvSpPr txBox="1"/>
          <p:nvPr/>
        </p:nvSpPr>
        <p:spPr>
          <a:xfrm>
            <a:off x="5340096" y="2423160"/>
            <a:ext cx="32644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sz="850" b="1" spc="90" kern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ASSUMER</a:t>
            </a:r>
            <a:endParaRPr sz="850"/>
          </a:p>
        </p:txBody>
      </p:sp>
      <p:sp>
        <p:nvSpPr>
          <p:cNvPr id="19" name="Shape 17"/>
          <p:cNvSpPr/>
          <p:nvPr/>
        </p:nvSpPr>
        <p:spPr>
          <a:xfrm>
            <a:off x="457200" y="2907792"/>
            <a:ext cx="8229600" cy="0"/>
          </a:xfrm>
          <a:prstGeom prst="line">
            <a:avLst/>
          </a:prstGeom>
          <a:noFill/>
          <a:ln w="6350">
            <a:solidFill>
              <a:srgbClr val="E2DCCF"/>
            </a:solidFill>
            <a:prstDash val="solid"/>
          </a:ln>
        </p:spPr>
      </p:sp>
      <p:sp>
        <p:nvSpPr>
          <p:cNvPr id="20" name=""/>
          <p:cNvSpPr txBox="1"/>
          <p:nvPr/>
        </p:nvSpPr>
        <p:spPr>
          <a:xfrm>
            <a:off x="539496" y="2674620"/>
            <a:ext cx="1207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sz="950">
                <a:solidFill>
                  <a:srgbClr val="3D3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Concurrence</a:t>
            </a:r>
            <a:endParaRPr sz="950"/>
          </a:p>
        </p:txBody>
      </p:sp>
      <p:sp>
        <p:nvSpPr>
          <p:cNvPr id="21" name=""/>
          <p:cNvSpPr txBox="1"/>
          <p:nvPr/>
        </p:nvSpPr>
        <p:spPr>
          <a:xfrm>
            <a:off x="1911096" y="2674620"/>
            <a:ext cx="3264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sz="950">
                <a:solidFill>
                  <a:srgbClr val="3D3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offre directe à ce niveau sur la commune</a:t>
            </a:r>
            <a:endParaRPr sz="950"/>
          </a:p>
        </p:txBody>
      </p:sp>
      <p:sp>
        <p:nvSpPr>
          <p:cNvPr id="22" name=""/>
          <p:cNvSpPr txBox="1"/>
          <p:nvPr/>
        </p:nvSpPr>
        <p:spPr>
          <a:xfrm>
            <a:off x="5340096" y="2674620"/>
            <a:ext cx="3264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sz="950">
                <a:solidFill>
                  <a:srgbClr val="3D3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précédent local à opposer</a:t>
            </a:r>
            <a:endParaRPr sz="950"/>
          </a:p>
        </p:txBody>
      </p:sp>
      <p:sp>
        <p:nvSpPr>
          <p:cNvPr id="23" name="Shape 21"/>
          <p:cNvSpPr/>
          <p:nvPr/>
        </p:nvSpPr>
        <p:spPr>
          <a:xfrm>
            <a:off x="457200" y="3182112"/>
            <a:ext cx="8229600" cy="0"/>
          </a:xfrm>
          <a:prstGeom prst="line">
            <a:avLst/>
          </a:prstGeom>
          <a:noFill/>
          <a:ln w="6350">
            <a:solidFill>
              <a:srgbClr val="E2DCCF"/>
            </a:solidFill>
            <a:prstDash val="solid"/>
          </a:ln>
        </p:spPr>
      </p:sp>
      <p:sp>
        <p:nvSpPr>
          <p:cNvPr id="24" name=""/>
          <p:cNvSpPr txBox="1"/>
          <p:nvPr/>
        </p:nvSpPr>
        <p:spPr>
          <a:xfrm>
            <a:off x="539496" y="2948940"/>
            <a:ext cx="1207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sz="950">
                <a:solidFill>
                  <a:srgbClr val="3D3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Acquéreurs</a:t>
            </a:r>
            <a:endParaRPr sz="950"/>
          </a:p>
        </p:txBody>
      </p:sp>
      <p:sp>
        <p:nvSpPr>
          <p:cNvPr id="25" name=""/>
          <p:cNvSpPr txBox="1"/>
          <p:nvPr/>
        </p:nvSpPr>
        <p:spPr>
          <a:xfrm>
            <a:off x="1911096" y="2948940"/>
            <a:ext cx="3264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sz="950">
                <a:solidFill>
                  <a:srgbClr val="3D3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Clientèle internationale et patrimoniale</a:t>
            </a:r>
            <a:endParaRPr sz="950"/>
          </a:p>
        </p:txBody>
      </p:sp>
      <p:sp>
        <p:nvSpPr>
          <p:cNvPr id="26" name=""/>
          <p:cNvSpPr txBox="1"/>
          <p:nvPr/>
        </p:nvSpPr>
        <p:spPr>
          <a:xfrm>
            <a:off x="5340096" y="2948940"/>
            <a:ext cx="3264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sz="950">
                <a:solidFill>
                  <a:srgbClr val="3D3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Quelques dizaines par an sur tout le Golfe</a:t>
            </a:r>
            <a:endParaRPr sz="950"/>
          </a:p>
        </p:txBody>
      </p:sp>
      <p:sp>
        <p:nvSpPr>
          <p:cNvPr id="27" name="Shape 25"/>
          <p:cNvSpPr/>
          <p:nvPr/>
        </p:nvSpPr>
        <p:spPr>
          <a:xfrm>
            <a:off x="457200" y="3456432"/>
            <a:ext cx="8229600" cy="0"/>
          </a:xfrm>
          <a:prstGeom prst="line">
            <a:avLst/>
          </a:prstGeom>
          <a:noFill/>
          <a:ln w="6350">
            <a:solidFill>
              <a:srgbClr val="E2DCCF"/>
            </a:solidFill>
            <a:prstDash val="solid"/>
          </a:ln>
        </p:spPr>
      </p:sp>
      <p:sp>
        <p:nvSpPr>
          <p:cNvPr id="28" name=""/>
          <p:cNvSpPr txBox="1"/>
          <p:nvPr/>
        </p:nvSpPr>
        <p:spPr>
          <a:xfrm>
            <a:off x="539496" y="3223260"/>
            <a:ext cx="1207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sz="950">
                <a:solidFill>
                  <a:srgbClr val="3D3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Délai</a:t>
            </a:r>
            <a:endParaRPr sz="950"/>
          </a:p>
        </p:txBody>
      </p:sp>
      <p:sp>
        <p:nvSpPr>
          <p:cNvPr id="29" name=""/>
          <p:cNvSpPr txBox="1"/>
          <p:nvPr/>
        </p:nvSpPr>
        <p:spPr>
          <a:xfrm>
            <a:off x="1911096" y="3223260"/>
            <a:ext cx="3264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sz="950">
                <a:solidFill>
                  <a:srgbClr val="3D3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prix ne cèdent pas sur cette tranche</a:t>
            </a:r>
            <a:endParaRPr sz="950"/>
          </a:p>
        </p:txBody>
      </p:sp>
      <p:sp>
        <p:nvSpPr>
          <p:cNvPr id="30" name=""/>
          <p:cNvSpPr txBox="1"/>
          <p:nvPr/>
        </p:nvSpPr>
        <p:spPr>
          <a:xfrm>
            <a:off x="5340096" y="3223260"/>
            <a:ext cx="3264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sz="950">
                <a:solidFill>
                  <a:srgbClr val="3D3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 de 12 à 24 mois, diffusion internationale</a:t>
            </a:r>
            <a:endParaRPr sz="950"/>
          </a:p>
        </p:txBody>
      </p:sp>
      <p:sp>
        <p:nvSpPr>
          <p:cNvPr id="31" name=""/>
          <p:cNvSpPr txBox="1"/>
          <p:nvPr/>
        </p:nvSpPr>
        <p:spPr>
          <a:xfrm>
            <a:off x="457200" y="3785616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sz="1100">
                <a:solidFill>
                  <a:srgbClr val="1E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plus haut prix affiché du relevé communal est de 6,9 M€ : mise sur le marché à 8,45 M€, la villa serait le bien le plus cher proposé à Sainte-Maxime. Un bien sans comparable local n'est pas surévalué — c'est un bien dont le prix se fixe ailleurs.</a:t>
            </a:r>
            <a:endParaRPr sz="1100"/>
          </a:p>
        </p:txBody>
      </p:sp>
      <p:sp>
        <p:nvSpPr>
          <p:cNvPr id="32" name=""/>
          <p:cNvSpPr txBox="1"/>
          <p:nvPr/>
        </p:nvSpPr>
        <p:spPr>
          <a:xfrm>
            <a:off x="457200" y="466801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sz="850" i="1">
                <a:solidFill>
                  <a:srgbClr val="8E8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source publique ne publie le nombre de ventes actées entre 7 et 12 M€. Le script tools/dvf/volumes_tranche_prix.py le produit à partir de DVF — le résultat sera un plancher, les cessions de parts de SCI en étant absentes.</a:t>
            </a:r>
            <a:endParaRPr sz="85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457200" y="31089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000" b="1" spc="200" kern="0">
                <a:solidFill>
                  <a:srgbClr val="8A5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 · DÉFENSE</a:t>
            </a:r>
            <a:endParaRPr sz="1000"/>
          </a:p>
        </p:txBody>
      </p:sp>
      <p:sp>
        <p:nvSpPr>
          <p:cNvPr id="3" name=""/>
          <p:cNvSpPr txBox="1"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sz="2800">
                <a:solidFill>
                  <a:srgbClr val="1E1A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qui sera attaqué, et quoi répondre</a:t>
            </a:r>
            <a:endParaRPr sz="280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023360" cy="932688"/>
          </a:xfrm>
          <a:prstGeom prst="rect">
            <a:avLst/>
          </a:prstGeom>
          <a:solidFill>
            <a:srgbClr val="EFEBE2"/>
          </a:solidFill>
          <a:ln w="12700">
            <a:solidFill>
              <a:srgbClr val="EFEBE2"/>
            </a:solidFill>
            <a:prstDash val="solid"/>
          </a:ln>
        </p:spPr>
      </p:sp>
      <p:sp>
        <p:nvSpPr>
          <p:cNvPr id="5" name=""/>
          <p:cNvSpPr txBox="1"/>
          <p:nvPr/>
        </p:nvSpPr>
        <p:spPr>
          <a:xfrm>
            <a:off x="621792" y="1325880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sz="1200" b="1">
                <a:solidFill>
                  <a:srgbClr val="1E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Ce n'est pas un pieds dans l'eau. »</a:t>
            </a:r>
            <a:endParaRPr sz="1200"/>
          </a:p>
        </p:txBody>
      </p:sp>
      <p:sp>
        <p:nvSpPr>
          <p:cNvPr id="6" name=""/>
          <p:cNvSpPr txBox="1"/>
          <p:nvPr/>
        </p:nvSpPr>
        <p:spPr>
          <a:xfrm>
            <a:off x="621792" y="1591056"/>
            <a:ext cx="3694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sz="1050">
                <a:solidFill>
                  <a:srgbClr val="5B5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— position perchée, +37,92 à +44,77 NGF. Aucune des trois méthodes ne s'appuie sur le front de mer.</a:t>
            </a:r>
            <a:endParaRPr sz="1050"/>
          </a:p>
        </p:txBody>
      </p:sp>
      <p:sp>
        <p:nvSpPr>
          <p:cNvPr id="7" name="Shape 5"/>
          <p:cNvSpPr/>
          <p:nvPr/>
        </p:nvSpPr>
        <p:spPr>
          <a:xfrm>
            <a:off x="457200" y="2249424"/>
            <a:ext cx="4023360" cy="932688"/>
          </a:xfrm>
          <a:prstGeom prst="rect">
            <a:avLst/>
          </a:prstGeom>
          <a:solidFill>
            <a:srgbClr val="EFEBE2"/>
          </a:solidFill>
          <a:ln w="12700">
            <a:solidFill>
              <a:srgbClr val="EFEBE2"/>
            </a:solidFill>
            <a:prstDash val="solid"/>
          </a:ln>
        </p:spPr>
      </p:sp>
      <p:sp>
        <p:nvSpPr>
          <p:cNvPr id="8" name=""/>
          <p:cNvSpPr txBox="1"/>
          <p:nvPr/>
        </p:nvSpPr>
        <p:spPr>
          <a:xfrm>
            <a:off x="621792" y="2386584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sz="1200" b="1">
                <a:solidFill>
                  <a:srgbClr val="1E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La piscine est petite. »</a:t>
            </a:r>
            <a:endParaRPr sz="1200"/>
          </a:p>
        </p:txBody>
      </p:sp>
      <p:sp>
        <p:nvSpPr>
          <p:cNvPr id="9" name=""/>
          <p:cNvSpPr txBox="1"/>
          <p:nvPr/>
        </p:nvSpPr>
        <p:spPr>
          <a:xfrm>
            <a:off x="621792" y="2651760"/>
            <a:ext cx="3694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sz="1050">
                <a:solidFill>
                  <a:srgbClr val="5B5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Fondé. 27 m² pour 421,82 m² habitables. À agrandir ou à documenter avant commercialisation.</a:t>
            </a:r>
            <a:endParaRPr sz="1050"/>
          </a:p>
        </p:txBody>
      </p:sp>
      <p:sp>
        <p:nvSpPr>
          <p:cNvPr id="10" name="Shape 8"/>
          <p:cNvSpPr/>
          <p:nvPr/>
        </p:nvSpPr>
        <p:spPr>
          <a:xfrm>
            <a:off x="457200" y="3310128"/>
            <a:ext cx="4023360" cy="932688"/>
          </a:xfrm>
          <a:prstGeom prst="rect">
            <a:avLst/>
          </a:prstGeom>
          <a:solidFill>
            <a:srgbClr val="EFEBE2"/>
          </a:solidFill>
          <a:ln w="12700">
            <a:solidFill>
              <a:srgbClr val="EFEBE2"/>
            </a:solidFill>
            <a:prstDash val="solid"/>
          </a:ln>
        </p:spPr>
      </p:sp>
      <p:sp>
        <p:nvSpPr>
          <p:cNvPr id="11" name=""/>
          <p:cNvSpPr txBox="1"/>
          <p:nvPr/>
        </p:nvSpPr>
        <p:spPr>
          <a:xfrm>
            <a:off x="621792" y="3447288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sz="1200" b="1">
                <a:solidFill>
                  <a:srgbClr val="1E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Quatre chambres seulement. »</a:t>
            </a:r>
            <a:endParaRPr sz="1200"/>
          </a:p>
        </p:txBody>
      </p:sp>
      <p:sp>
        <p:nvSpPr>
          <p:cNvPr id="12" name=""/>
          <p:cNvSpPr txBox="1"/>
          <p:nvPr/>
        </p:nvSpPr>
        <p:spPr>
          <a:xfrm>
            <a:off x="621792" y="3712464"/>
            <a:ext cx="3694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sz="1050">
                <a:solidFill>
                  <a:srgbClr val="5B5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Quatre suites de 39,85 m². À surface de couchage égale, le programme égale les comparables à six chambres.</a:t>
            </a:r>
            <a:endParaRPr sz="1050"/>
          </a:p>
        </p:txBody>
      </p:sp>
      <p:sp>
        <p:nvSpPr>
          <p:cNvPr id="13" name="Shape 11"/>
          <p:cNvSpPr/>
          <p:nvPr/>
        </p:nvSpPr>
        <p:spPr>
          <a:xfrm>
            <a:off x="4663440" y="1188720"/>
            <a:ext cx="4023360" cy="932688"/>
          </a:xfrm>
          <a:prstGeom prst="rect">
            <a:avLst/>
          </a:prstGeom>
          <a:solidFill>
            <a:srgbClr val="EFEBE2"/>
          </a:solidFill>
          <a:ln w="12700">
            <a:solidFill>
              <a:srgbClr val="EFEBE2"/>
            </a:solidFill>
            <a:prstDash val="solid"/>
          </a:ln>
        </p:spPr>
      </p:sp>
      <p:sp>
        <p:nvSpPr>
          <p:cNvPr id="14" name=""/>
          <p:cNvSpPr txBox="1"/>
          <p:nvPr/>
        </p:nvSpPr>
        <p:spPr>
          <a:xfrm>
            <a:off x="4828032" y="1325880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sz="1200" b="1">
                <a:solidFill>
                  <a:srgbClr val="1E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Vos surfaces viennent d'esquisses. »</a:t>
            </a:r>
            <a:endParaRPr sz="1200"/>
          </a:p>
        </p:txBody>
      </p:sp>
      <p:sp>
        <p:nvSpPr>
          <p:cNvPr id="15" name=""/>
          <p:cNvSpPr txBox="1"/>
          <p:nvPr/>
        </p:nvSpPr>
        <p:spPr>
          <a:xfrm>
            <a:off x="4828032" y="1591056"/>
            <a:ext cx="3694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sz="1050">
                <a:solidFill>
                  <a:srgbClr val="5B5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Fondé. Figer la variante et faire attester les surfaces avant toute remise à un tiers.</a:t>
            </a:r>
            <a:endParaRPr sz="1050"/>
          </a:p>
        </p:txBody>
      </p:sp>
      <p:sp>
        <p:nvSpPr>
          <p:cNvPr id="16" name="Shape 14"/>
          <p:cNvSpPr/>
          <p:nvPr/>
        </p:nvSpPr>
        <p:spPr>
          <a:xfrm>
            <a:off x="4663440" y="2249424"/>
            <a:ext cx="4023360" cy="932688"/>
          </a:xfrm>
          <a:prstGeom prst="rect">
            <a:avLst/>
          </a:prstGeom>
          <a:solidFill>
            <a:srgbClr val="EFEBE2"/>
          </a:solidFill>
          <a:ln w="12700">
            <a:solidFill>
              <a:srgbClr val="EFEBE2"/>
            </a:solidFill>
            <a:prstDash val="solid"/>
          </a:ln>
        </p:spPr>
      </p:sp>
      <p:sp>
        <p:nvSpPr>
          <p:cNvPr id="17" name=""/>
          <p:cNvSpPr txBox="1"/>
          <p:nvPr/>
        </p:nvSpPr>
        <p:spPr>
          <a:xfrm>
            <a:off x="4828032" y="2386584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sz="1200" b="1">
                <a:solidFill>
                  <a:srgbClr val="1E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Vos comparables sont des prix affichés. »</a:t>
            </a:r>
            <a:endParaRPr sz="1200"/>
          </a:p>
        </p:txBody>
      </p:sp>
      <p:sp>
        <p:nvSpPr>
          <p:cNvPr id="18" name=""/>
          <p:cNvSpPr txBox="1"/>
          <p:nvPr/>
        </p:nvSpPr>
        <p:spPr>
          <a:xfrm>
            <a:off x="4828032" y="2651760"/>
            <a:ext cx="3694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sz="1050">
                <a:solidFill>
                  <a:srgbClr val="5B5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pourquoi le bilan de reconstitution porte le dossier : un bilan de coûts ne dépend d'aucune annonce.</a:t>
            </a:r>
            <a:endParaRPr sz="1050"/>
          </a:p>
        </p:txBody>
      </p:sp>
      <p:sp>
        <p:nvSpPr>
          <p:cNvPr id="19" name="Shape 17"/>
          <p:cNvSpPr/>
          <p:nvPr/>
        </p:nvSpPr>
        <p:spPr>
          <a:xfrm>
            <a:off x="4663440" y="3310128"/>
            <a:ext cx="4023360" cy="932688"/>
          </a:xfrm>
          <a:prstGeom prst="rect">
            <a:avLst/>
          </a:prstGeom>
          <a:solidFill>
            <a:srgbClr val="EFEBE2"/>
          </a:solidFill>
          <a:ln w="12700">
            <a:solidFill>
              <a:srgbClr val="EFEBE2"/>
            </a:solidFill>
            <a:prstDash val="solid"/>
          </a:ln>
        </p:spPr>
      </p:sp>
      <p:sp>
        <p:nvSpPr>
          <p:cNvPr id="20" name=""/>
          <p:cNvSpPr txBox="1"/>
          <p:nvPr/>
        </p:nvSpPr>
        <p:spPr>
          <a:xfrm>
            <a:off x="4828032" y="3447288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sz="1200" b="1">
                <a:solidFill>
                  <a:srgbClr val="1E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20 000 €/m² dépasse la moyenne locale. »</a:t>
            </a:r>
            <a:endParaRPr sz="1200"/>
          </a:p>
        </p:txBody>
      </p:sp>
      <p:sp>
        <p:nvSpPr>
          <p:cNvPr id="21" name=""/>
          <p:cNvSpPr txBox="1"/>
          <p:nvPr/>
        </p:nvSpPr>
        <p:spPr>
          <a:xfrm>
            <a:off x="4828032" y="3712464"/>
            <a:ext cx="3694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sz="1050">
                <a:solidFill>
                  <a:srgbClr val="5B5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moyenne communale agrège collines et parc ancien. Le repère est le segment neuf, à 19 854 €/m².</a:t>
            </a:r>
            <a:endParaRPr sz="1050"/>
          </a:p>
        </p:txBody>
      </p:sp>
      <p:sp>
        <p:nvSpPr>
          <p:cNvPr id="22" name=""/>
          <p:cNvSpPr txBox="1"/>
          <p:nvPr/>
        </p:nvSpPr>
        <p:spPr>
          <a:xfrm>
            <a:off x="457200" y="435254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100" b="1">
                <a:solidFill>
                  <a:srgbClr val="1E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de ces six objections sont fondées — les traiter avant de sortir le bien, pas pendant la négociation.</a:t>
            </a:r>
            <a:endParaRPr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457200" y="31089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000" b="1" spc="200" kern="0">
                <a:solidFill>
                  <a:srgbClr val="8A5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 · DÉFENSE</a:t>
            </a:r>
            <a:endParaRPr sz="1000"/>
          </a:p>
        </p:txBody>
      </p:sp>
      <p:sp>
        <p:nvSpPr>
          <p:cNvPr id="3" name=""/>
          <p:cNvSpPr txBox="1"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sz="2800">
                <a:solidFill>
                  <a:srgbClr val="1E1A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À traiter avant commercialisation</a:t>
            </a:r>
            <a:endParaRPr sz="280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713232"/>
          </a:xfrm>
          <a:prstGeom prst="rect">
            <a:avLst/>
          </a:prstGeom>
          <a:solidFill>
            <a:srgbClr val="EFEBE2"/>
          </a:solidFill>
          <a:ln w="12700">
            <a:solidFill>
              <a:srgbClr val="EFEBE2"/>
            </a:solidFill>
            <a:prstDash val="solid"/>
          </a:ln>
        </p:spPr>
      </p:sp>
      <p:sp>
        <p:nvSpPr>
          <p:cNvPr id="5" name=""/>
          <p:cNvSpPr txBox="1"/>
          <p:nvPr/>
        </p:nvSpPr>
        <p:spPr>
          <a:xfrm>
            <a:off x="603504" y="13167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sz="2600">
                <a:solidFill>
                  <a:srgbClr val="D6CD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sz="2600"/>
          </a:p>
        </p:txBody>
      </p:sp>
      <p:sp>
        <p:nvSpPr>
          <p:cNvPr id="6" name=""/>
          <p:cNvSpPr txBox="1"/>
          <p:nvPr/>
        </p:nvSpPr>
        <p:spPr>
          <a:xfrm>
            <a:off x="1170432" y="128016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150" b="1">
                <a:solidFill>
                  <a:srgbClr val="1E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Trancher la question de la piscine</a:t>
            </a:r>
            <a:endParaRPr sz="1150"/>
          </a:p>
        </p:txBody>
      </p:sp>
      <p:sp>
        <p:nvSpPr>
          <p:cNvPr id="7" name=""/>
          <p:cNvSpPr txBox="1"/>
          <p:nvPr/>
        </p:nvSpPr>
        <p:spPr>
          <a:xfrm>
            <a:off x="1170432" y="1517904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sz="95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m² pour une villa de 421,82 m² sur 2 033 m². Seule faiblesse matérielle du dossier — le foncier permet largement d'agrandir. En l'état, un acquéreur avisé en tirera 300 000 à 500 000 € de remise.</a:t>
            </a:r>
            <a:endParaRPr sz="950"/>
          </a:p>
        </p:txBody>
      </p:sp>
      <p:sp>
        <p:nvSpPr>
          <p:cNvPr id="8" name="Shape 6"/>
          <p:cNvSpPr/>
          <p:nvPr/>
        </p:nvSpPr>
        <p:spPr>
          <a:xfrm>
            <a:off x="457200" y="2048256"/>
            <a:ext cx="8229600" cy="713232"/>
          </a:xfrm>
          <a:prstGeom prst="rect">
            <a:avLst/>
          </a:prstGeom>
          <a:solidFill>
            <a:srgbClr val="EFEBE2"/>
          </a:solidFill>
          <a:ln w="12700">
            <a:solidFill>
              <a:srgbClr val="EFEBE2"/>
            </a:solidFill>
            <a:prstDash val="solid"/>
          </a:ln>
        </p:spPr>
      </p:sp>
      <p:sp>
        <p:nvSpPr>
          <p:cNvPr id="9" name=""/>
          <p:cNvSpPr txBox="1"/>
          <p:nvPr/>
        </p:nvSpPr>
        <p:spPr>
          <a:xfrm>
            <a:off x="603504" y="2176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sz="2600">
                <a:solidFill>
                  <a:srgbClr val="D6CD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sz="2600"/>
          </a:p>
        </p:txBody>
      </p:sp>
      <p:sp>
        <p:nvSpPr>
          <p:cNvPr id="10" name=""/>
          <p:cNvSpPr txBox="1"/>
          <p:nvPr/>
        </p:nvSpPr>
        <p:spPr>
          <a:xfrm>
            <a:off x="1170432" y="213969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150" b="1">
                <a:solidFill>
                  <a:srgbClr val="1E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Figer la variante de plan et faire attester les surfaces</a:t>
            </a:r>
            <a:endParaRPr sz="1150"/>
          </a:p>
        </p:txBody>
      </p:sp>
      <p:sp>
        <p:nvSpPr>
          <p:cNvPr id="11" name=""/>
          <p:cNvSpPr txBox="1"/>
          <p:nvPr/>
        </p:nvSpPr>
        <p:spPr>
          <a:xfrm>
            <a:off x="1170432" y="237744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sz="95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versions du R+1 circulent, avec des séjours de 41,71 à 59,00 m². Un acquéreur qui les découvre perd confiance dans le reste du dossier.</a:t>
            </a:r>
            <a:endParaRPr sz="950"/>
          </a:p>
        </p:txBody>
      </p:sp>
      <p:sp>
        <p:nvSpPr>
          <p:cNvPr id="12" name="Shape 10"/>
          <p:cNvSpPr/>
          <p:nvPr/>
        </p:nvSpPr>
        <p:spPr>
          <a:xfrm>
            <a:off x="457200" y="2907792"/>
            <a:ext cx="8229600" cy="713232"/>
          </a:xfrm>
          <a:prstGeom prst="rect">
            <a:avLst/>
          </a:prstGeom>
          <a:solidFill>
            <a:srgbClr val="EFEBE2"/>
          </a:solidFill>
          <a:ln w="12700">
            <a:solidFill>
              <a:srgbClr val="EFEBE2"/>
            </a:solidFill>
            <a:prstDash val="solid"/>
          </a:ln>
        </p:spPr>
      </p:sp>
      <p:sp>
        <p:nvSpPr>
          <p:cNvPr id="13" name=""/>
          <p:cNvSpPr txBox="1"/>
          <p:nvPr/>
        </p:nvSpPr>
        <p:spPr>
          <a:xfrm>
            <a:off x="603504" y="3035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sz="2600">
                <a:solidFill>
                  <a:srgbClr val="D6CD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sz="2600"/>
          </a:p>
        </p:txBody>
      </p:sp>
      <p:sp>
        <p:nvSpPr>
          <p:cNvPr id="14" name=""/>
          <p:cNvSpPr txBox="1"/>
          <p:nvPr/>
        </p:nvSpPr>
        <p:spPr>
          <a:xfrm>
            <a:off x="1170432" y="299923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150" b="1">
                <a:solidFill>
                  <a:srgbClr val="1E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Substituer le prix d'acquisition réel du foncier</a:t>
            </a:r>
            <a:endParaRPr sz="1150"/>
          </a:p>
        </p:txBody>
      </p:sp>
      <p:sp>
        <p:nvSpPr>
          <p:cNvPr id="15" name=""/>
          <p:cNvSpPr txBox="1"/>
          <p:nvPr/>
        </p:nvSpPr>
        <p:spPr>
          <a:xfrm>
            <a:off x="1170432" y="3236976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sz="95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la donnée qui transforme la reconstitution en démonstration opposable.</a:t>
            </a:r>
            <a:endParaRPr sz="950"/>
          </a:p>
        </p:txBody>
      </p:sp>
      <p:sp>
        <p:nvSpPr>
          <p:cNvPr id="16" name="Shape 14"/>
          <p:cNvSpPr/>
          <p:nvPr/>
        </p:nvSpPr>
        <p:spPr>
          <a:xfrm>
            <a:off x="457200" y="3767328"/>
            <a:ext cx="8229600" cy="713232"/>
          </a:xfrm>
          <a:prstGeom prst="rect">
            <a:avLst/>
          </a:prstGeom>
          <a:solidFill>
            <a:srgbClr val="EFEBE2"/>
          </a:solidFill>
          <a:ln w="12700">
            <a:solidFill>
              <a:srgbClr val="EFEBE2"/>
            </a:solidFill>
            <a:prstDash val="solid"/>
          </a:ln>
        </p:spPr>
      </p:sp>
      <p:sp>
        <p:nvSpPr>
          <p:cNvPr id="17" name=""/>
          <p:cNvSpPr txBox="1"/>
          <p:nvPr/>
        </p:nvSpPr>
        <p:spPr>
          <a:xfrm>
            <a:off x="603504" y="38953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sz="2600">
                <a:solidFill>
                  <a:srgbClr val="D6CD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sz="2600"/>
          </a:p>
        </p:txBody>
      </p:sp>
      <p:sp>
        <p:nvSpPr>
          <p:cNvPr id="18" name=""/>
          <p:cNvSpPr txBox="1"/>
          <p:nvPr/>
        </p:nvSpPr>
        <p:spPr>
          <a:xfrm>
            <a:off x="1170432" y="385876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150" b="1">
                <a:solidFill>
                  <a:srgbClr val="1E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Lancer le comptage DVF de la tranche 7 – 12 M€</a:t>
            </a:r>
            <a:endParaRPr sz="1150"/>
          </a:p>
        </p:txBody>
      </p:sp>
      <p:sp>
        <p:nvSpPr>
          <p:cNvPr id="19" name=""/>
          <p:cNvSpPr txBox="1"/>
          <p:nvPr/>
        </p:nvSpPr>
        <p:spPr>
          <a:xfrm>
            <a:off x="1170432" y="4096512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sz="95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caler la durée du mandat sur cette tranche : douze à vingt-quatre mois, diffusion internationale.</a:t>
            </a:r>
            <a:endParaRPr sz="95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C18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457200" y="54864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000" b="1" spc="220" kern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· RECOMMANDATION</a:t>
            </a:r>
            <a:endParaRPr sz="1000"/>
          </a:p>
        </p:txBody>
      </p:sp>
      <p:sp>
        <p:nvSpPr>
          <p:cNvPr id="3" name=""/>
          <p:cNvSpPr txBox="1"/>
          <p:nvPr/>
        </p:nvSpPr>
        <p:spPr>
          <a:xfrm>
            <a:off x="457200" y="896112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320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stratégie de prix</a:t>
            </a:r>
            <a:endParaRPr sz="3200"/>
          </a:p>
        </p:txBody>
      </p:sp>
      <p:sp>
        <p:nvSpPr>
          <p:cNvPr id="4" name="Shape 2"/>
          <p:cNvSpPr/>
          <p:nvPr/>
        </p:nvSpPr>
        <p:spPr>
          <a:xfrm>
            <a:off x="457200" y="1591056"/>
            <a:ext cx="8229600" cy="859536"/>
          </a:xfrm>
          <a:prstGeom prst="rect">
            <a:avLst/>
          </a:prstGeom>
          <a:solidFill>
            <a:srgbClr val="3A2E17"/>
          </a:solidFill>
          <a:ln w="12700">
            <a:solidFill>
              <a:srgbClr val="3A2E17"/>
            </a:solidFill>
            <a:prstDash val="solid"/>
          </a:ln>
        </p:spPr>
      </p:sp>
      <p:sp>
        <p:nvSpPr>
          <p:cNvPr id="5" name=""/>
          <p:cNvSpPr txBox="1"/>
          <p:nvPr/>
        </p:nvSpPr>
        <p:spPr>
          <a:xfrm>
            <a:off x="676656" y="170992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850" b="1" spc="110" kern="0">
                <a:solidFill>
                  <a:srgbClr val="9A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 DE PRÉSENTATION</a:t>
            </a:r>
            <a:endParaRPr sz="850"/>
          </a:p>
        </p:txBody>
      </p:sp>
      <p:sp>
        <p:nvSpPr>
          <p:cNvPr id="6" name=""/>
          <p:cNvSpPr txBox="1"/>
          <p:nvPr/>
        </p:nvSpPr>
        <p:spPr>
          <a:xfrm>
            <a:off x="676656" y="1956816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2200">
                <a:solidFill>
                  <a:srgbClr val="D9A5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8 450 000 €</a:t>
            </a:r>
            <a:endParaRPr sz="2200"/>
          </a:p>
        </p:txBody>
      </p:sp>
      <p:sp>
        <p:nvSpPr>
          <p:cNvPr id="7" name=""/>
          <p:cNvSpPr txBox="1"/>
          <p:nvPr/>
        </p:nvSpPr>
        <p:spPr>
          <a:xfrm>
            <a:off x="2926080" y="201168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200">
                <a:solidFill>
                  <a:srgbClr val="B9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20 032 €/m²</a:t>
            </a:r>
            <a:endParaRPr sz="1200"/>
          </a:p>
        </p:txBody>
      </p:sp>
      <p:sp>
        <p:nvSpPr>
          <p:cNvPr id="8" name=""/>
          <p:cNvSpPr txBox="1"/>
          <p:nvPr/>
        </p:nvSpPr>
        <p:spPr>
          <a:xfrm>
            <a:off x="4389120" y="1773936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sz="950">
                <a:solidFill>
                  <a:srgbClr val="B9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la moyenne du segment neuf ; laisse une marge de négociation crédible</a:t>
            </a:r>
            <a:endParaRPr sz="950"/>
          </a:p>
        </p:txBody>
      </p:sp>
      <p:sp>
        <p:nvSpPr>
          <p:cNvPr id="9" name="Shape 7"/>
          <p:cNvSpPr/>
          <p:nvPr/>
        </p:nvSpPr>
        <p:spPr>
          <a:xfrm>
            <a:off x="457200" y="2578608"/>
            <a:ext cx="8229600" cy="859536"/>
          </a:xfrm>
          <a:prstGeom prst="rect">
            <a:avLst/>
          </a:prstGeom>
          <a:solidFill>
            <a:srgbClr val="2A241A"/>
          </a:solidFill>
          <a:ln w="12700">
            <a:solidFill>
              <a:srgbClr val="2A241A"/>
            </a:solidFill>
            <a:prstDash val="solid"/>
          </a:ln>
        </p:spPr>
      </p:sp>
      <p:sp>
        <p:nvSpPr>
          <p:cNvPr id="10" name=""/>
          <p:cNvSpPr txBox="1"/>
          <p:nvPr/>
        </p:nvSpPr>
        <p:spPr>
          <a:xfrm>
            <a:off x="676656" y="269748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850" b="1" spc="110" kern="0">
                <a:solidFill>
                  <a:srgbClr val="9A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 DE RÉFÉRENCE DU DOSSIER</a:t>
            </a:r>
            <a:endParaRPr sz="850"/>
          </a:p>
        </p:txBody>
      </p:sp>
      <p:sp>
        <p:nvSpPr>
          <p:cNvPr id="11" name=""/>
          <p:cNvSpPr txBox="1"/>
          <p:nvPr/>
        </p:nvSpPr>
        <p:spPr>
          <a:xfrm>
            <a:off x="676656" y="294436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220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8 436 400 €</a:t>
            </a:r>
            <a:endParaRPr sz="2200"/>
          </a:p>
        </p:txBody>
      </p:sp>
      <p:sp>
        <p:nvSpPr>
          <p:cNvPr id="12" name=""/>
          <p:cNvSpPr txBox="1"/>
          <p:nvPr/>
        </p:nvSpPr>
        <p:spPr>
          <a:xfrm>
            <a:off x="2926080" y="299923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200">
                <a:solidFill>
                  <a:srgbClr val="B9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20 000 €/m²</a:t>
            </a:r>
            <a:endParaRPr sz="1200"/>
          </a:p>
        </p:txBody>
      </p:sp>
      <p:sp>
        <p:nvSpPr>
          <p:cNvPr id="13" name=""/>
          <p:cNvSpPr txBox="1"/>
          <p:nvPr/>
        </p:nvSpPr>
        <p:spPr>
          <a:xfrm>
            <a:off x="4389120" y="2761488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sz="950">
                <a:solidFill>
                  <a:srgbClr val="B9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de convergence des trois méthodes</a:t>
            </a:r>
            <a:endParaRPr sz="950"/>
          </a:p>
        </p:txBody>
      </p:sp>
      <p:sp>
        <p:nvSpPr>
          <p:cNvPr id="14" name="Shape 12"/>
          <p:cNvSpPr/>
          <p:nvPr/>
        </p:nvSpPr>
        <p:spPr>
          <a:xfrm>
            <a:off x="457200" y="3566160"/>
            <a:ext cx="8229600" cy="859536"/>
          </a:xfrm>
          <a:prstGeom prst="rect">
            <a:avLst/>
          </a:prstGeom>
          <a:solidFill>
            <a:srgbClr val="2A241A"/>
          </a:solidFill>
          <a:ln w="12700">
            <a:solidFill>
              <a:srgbClr val="2A241A"/>
            </a:solidFill>
            <a:prstDash val="solid"/>
          </a:ln>
        </p:spPr>
      </p:sp>
      <p:sp>
        <p:nvSpPr>
          <p:cNvPr id="15" name=""/>
          <p:cNvSpPr txBox="1"/>
          <p:nvPr/>
        </p:nvSpPr>
        <p:spPr>
          <a:xfrm>
            <a:off x="676656" y="368503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850" b="1" spc="110" kern="0">
                <a:solidFill>
                  <a:srgbClr val="9A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PLANCHER DE NÉGOCIATION</a:t>
            </a:r>
            <a:endParaRPr sz="850"/>
          </a:p>
        </p:txBody>
      </p:sp>
      <p:sp>
        <p:nvSpPr>
          <p:cNvPr id="16" name=""/>
          <p:cNvSpPr txBox="1"/>
          <p:nvPr/>
        </p:nvSpPr>
        <p:spPr>
          <a:xfrm>
            <a:off x="676656" y="393192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220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7 950 000 €</a:t>
            </a:r>
            <a:endParaRPr sz="2200"/>
          </a:p>
        </p:txBody>
      </p:sp>
      <p:sp>
        <p:nvSpPr>
          <p:cNvPr id="17" name=""/>
          <p:cNvSpPr txBox="1"/>
          <p:nvPr/>
        </p:nvSpPr>
        <p:spPr>
          <a:xfrm>
            <a:off x="2926080" y="398678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200">
                <a:solidFill>
                  <a:srgbClr val="B9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18 847 €/m²</a:t>
            </a:r>
            <a:endParaRPr sz="1200"/>
          </a:p>
        </p:txBody>
      </p:sp>
      <p:sp>
        <p:nvSpPr>
          <p:cNvPr id="18" name=""/>
          <p:cNvSpPr txBox="1"/>
          <p:nvPr/>
        </p:nvSpPr>
        <p:spPr>
          <a:xfrm>
            <a:off x="4389120" y="3749040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sz="950">
                <a:solidFill>
                  <a:srgbClr val="B9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Encadré par la médiane du segment neuf (18 935 €) et l'extrapolation des comparables (18 407 €)</a:t>
            </a:r>
            <a:endParaRPr sz="95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457200" y="31089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000" b="1" spc="200" kern="0">
                <a:solidFill>
                  <a:srgbClr val="8A5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ANNEXE</a:t>
            </a:r>
            <a:endParaRPr sz="1000"/>
          </a:p>
        </p:txBody>
      </p:sp>
      <p:sp>
        <p:nvSpPr>
          <p:cNvPr id="3" name=""/>
          <p:cNvSpPr txBox="1"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sz="2800">
                <a:solidFill>
                  <a:srgbClr val="1E1A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 et réserves</a:t>
            </a:r>
            <a:endParaRPr sz="280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023360" cy="1371600"/>
          </a:xfrm>
          <a:prstGeom prst="rect">
            <a:avLst/>
          </a:prstGeom>
          <a:solidFill>
            <a:srgbClr val="EFEBE2"/>
          </a:solidFill>
          <a:ln w="12700">
            <a:solidFill>
              <a:srgbClr val="EFEBE2"/>
            </a:solidFill>
            <a:prstDash val="solid"/>
          </a:ln>
        </p:spPr>
      </p:sp>
      <p:sp>
        <p:nvSpPr>
          <p:cNvPr id="5" name=""/>
          <p:cNvSpPr txBox="1"/>
          <p:nvPr/>
        </p:nvSpPr>
        <p:spPr>
          <a:xfrm>
            <a:off x="621792" y="1325880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sz="1200" b="1">
                <a:solidFill>
                  <a:srgbClr val="1E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de l'opération</a:t>
            </a:r>
            <a:endParaRPr sz="1200"/>
          </a:p>
        </p:txBody>
      </p:sp>
      <p:sp>
        <p:nvSpPr>
          <p:cNvPr id="6" name=""/>
          <p:cNvSpPr txBox="1"/>
          <p:nvPr/>
        </p:nvSpPr>
        <p:spPr>
          <a:xfrm>
            <a:off x="621792" y="1591056"/>
            <a:ext cx="369417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sz="105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descriptive du 12 octobre 2025 · plans ESQ.2 à ESQ.5 du 30 mai 2025, indice 120 · plan cadastral parcelle AF 168 · dossier Fournitures La Crémerie · panorama Twinmotion.</a:t>
            </a:r>
            <a:endParaRPr sz="1050"/>
          </a:p>
        </p:txBody>
      </p:sp>
      <p:sp>
        <p:nvSpPr>
          <p:cNvPr id="7" name="Shape 5"/>
          <p:cNvSpPr/>
          <p:nvPr/>
        </p:nvSpPr>
        <p:spPr>
          <a:xfrm>
            <a:off x="4663440" y="1188720"/>
            <a:ext cx="4023360" cy="1371600"/>
          </a:xfrm>
          <a:prstGeom prst="rect">
            <a:avLst/>
          </a:prstGeom>
          <a:solidFill>
            <a:srgbClr val="EFEBE2"/>
          </a:solidFill>
          <a:ln w="12700">
            <a:solidFill>
              <a:srgbClr val="EFEBE2"/>
            </a:solidFill>
            <a:prstDash val="solid"/>
          </a:ln>
        </p:spPr>
      </p:sp>
      <p:sp>
        <p:nvSpPr>
          <p:cNvPr id="8" name=""/>
          <p:cNvSpPr txBox="1"/>
          <p:nvPr/>
        </p:nvSpPr>
        <p:spPr>
          <a:xfrm>
            <a:off x="4828032" y="1325880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sz="1200" b="1">
                <a:solidFill>
                  <a:srgbClr val="1E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Marché</a:t>
            </a:r>
            <a:endParaRPr sz="1200"/>
          </a:p>
        </p:txBody>
      </p:sp>
      <p:sp>
        <p:nvSpPr>
          <p:cNvPr id="9" name=""/>
          <p:cNvSpPr txBox="1"/>
          <p:nvPr/>
        </p:nvSpPr>
        <p:spPr>
          <a:xfrm>
            <a:off x="4828032" y="1591056"/>
            <a:ext cx="369417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sz="105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Provence Immobilier · Belles Demeures · John Taylor · Barnes International · MySweetImmo (février et juillet 2026) · Côte d'Azur Sotheby's, Ultra-Prime Report 2026.</a:t>
            </a:r>
            <a:endParaRPr sz="1050"/>
          </a:p>
        </p:txBody>
      </p:sp>
      <p:sp>
        <p:nvSpPr>
          <p:cNvPr id="10" name="Shape 8"/>
          <p:cNvSpPr/>
          <p:nvPr/>
        </p:nvSpPr>
        <p:spPr>
          <a:xfrm>
            <a:off x="457200" y="2724912"/>
            <a:ext cx="8229600" cy="1481328"/>
          </a:xfrm>
          <a:prstGeom prst="rect">
            <a:avLst/>
          </a:prstGeom>
          <a:solidFill>
            <a:srgbClr val="F6E9E7"/>
          </a:solidFill>
          <a:ln w="12700">
            <a:solidFill>
              <a:srgbClr val="F6E9E7"/>
            </a:solidFill>
            <a:prstDash val="solid"/>
          </a:ln>
        </p:spPr>
      </p:sp>
      <p:sp>
        <p:nvSpPr>
          <p:cNvPr id="11" name=""/>
          <p:cNvSpPr txBox="1"/>
          <p:nvPr/>
        </p:nvSpPr>
        <p:spPr>
          <a:xfrm>
            <a:off x="676656" y="2852928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150" b="1">
                <a:solidFill>
                  <a:srgbClr val="6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Réserves</a:t>
            </a:r>
            <a:endParaRPr sz="1150"/>
          </a:p>
        </p:txBody>
      </p:sp>
      <p:sp>
        <p:nvSpPr>
          <p:cNvPr id="12" name=""/>
          <p:cNvSpPr txBox="1"/>
          <p:nvPr/>
        </p:nvSpPr>
        <p:spPr>
          <a:xfrm>
            <a:off x="676656" y="3145536"/>
            <a:ext cx="77724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200"/>
              </a:lnSpc>
              <a:spcAft>
                <a:spcPts val="300"/>
              </a:spcAft>
              <a:buSzPct val="100000"/>
              <a:buChar char="•"/>
            </a:pPr>
            <a:r>
              <a:rPr sz="950">
                <a:solidFill>
                  <a:srgbClr val="6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comparables sont des prix d'offre relevés en septembre 2026, non des prix de vente.</a:t>
            </a:r>
            <a:endParaRPr sz="950"/>
          </a:p>
          <a:p>
            <a:pPr marL="342900" indent="-342900">
              <a:lnSpc>
                <a:spcPts val="1200"/>
              </a:lnSpc>
              <a:spcAft>
                <a:spcPts val="300"/>
              </a:spcAft>
              <a:buSzPct val="100000"/>
              <a:buChar char="•"/>
            </a:pPr>
            <a:r>
              <a:rPr sz="950">
                <a:solidFill>
                  <a:srgbClr val="6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coûts du bilan de reconstitution sont des ordres de grandeur de marché, à remplacer par les coûts réels de l'opération.</a:t>
            </a:r>
            <a:endParaRPr sz="950"/>
          </a:p>
          <a:p>
            <a:pPr marL="342900" indent="-342900">
              <a:lnSpc>
                <a:spcPts val="1200"/>
              </a:lnSpc>
              <a:spcAft>
                <a:spcPts val="300"/>
              </a:spcAft>
              <a:buSzPct val="100000"/>
              <a:buChar char="•"/>
            </a:pPr>
            <a:r>
              <a:rPr sz="950">
                <a:solidFill>
                  <a:srgbClr val="6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surfaces proviennent de plans d'esquisse non contractuels et devront être attestées à la livraison.</a:t>
            </a:r>
            <a:endParaRPr sz="950"/>
          </a:p>
          <a:p>
            <a:pPr marL="342900" indent="-342900">
              <a:lnSpc>
                <a:spcPts val="1200"/>
              </a:lnSpc>
              <a:spcAft>
                <a:spcPts val="300"/>
              </a:spcAft>
              <a:buSzPct val="100000"/>
              <a:buChar char="•"/>
            </a:pPr>
            <a:r>
              <a:rPr sz="950">
                <a:solidFill>
                  <a:srgbClr val="6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indicateurs de la tranche 7 – 12 M€ cadrent le segment mais ne le dénombrent pas : aucun comptage de transactions n'est avancé sans exécution du script DVF.</a:t>
            </a:r>
            <a:endParaRPr sz="9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Villa Roi de la Camargue — défense de prix</dc:title>
  <dc:subject>PptxGenJS Presentation</dc:subject>
  <dc:creator>La Crémerie / Cercle Privé</dc:creator>
  <cp:lastModifiedBy>La Crémerie / Cercle Privé</cp:lastModifiedBy>
  <cp:revision>1</cp:revision>
  <dcterms:created xsi:type="dcterms:W3CDTF">2026-09-01T11:00:46Z</dcterms:created>
  <dcterms:modified xsi:type="dcterms:W3CDTF">2026-09-01T11:00:46Z</dcterms:modified>
</cp:coreProperties>
</file>